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Canva Sans" panose="020B0604020202020204" charset="0"/>
      <p:regular r:id="rId15"/>
    </p:embeddedFont>
    <p:embeddedFont>
      <p:font typeface="Canva Sans Bold" panose="020B0604020202020204" charset="0"/>
      <p:regular r:id="rId16"/>
    </p:embeddedFont>
    <p:embeddedFont>
      <p:font typeface="Open Sans" panose="020B0606030504020204" pitchFamily="34" charset="0"/>
      <p:regular r:id="rId17"/>
    </p:embeddedFont>
    <p:embeddedFont>
      <p:font typeface="Open Sauce Bold" panose="020B0604020202020204" charset="0"/>
      <p:regular r:id="rId18"/>
    </p:embeddedFont>
    <p:embeddedFont>
      <p:font typeface="Times New Roman Bold" panose="02020803070505020304" pitchFamily="18" charset="0"/>
      <p:regular r:id="rId19"/>
      <p:bold r:id="rId20"/>
    </p:embeddedFont>
    <p:embeddedFont>
      <p:font typeface="Times New Roman Italics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946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23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image" Target="../media/image24.jpe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25.jpeg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ashka05/chess-playing-robotic-arm/blob/docs/Presentation_Reports/Group_09_Progress_report_2.pdf" TargetMode="External"/><Relationship Id="rId2" Type="http://schemas.openxmlformats.org/officeDocument/2006/relationships/hyperlink" Target="https://github.com/aashka05/chess-playing-robotic-arm/blob/docs/Presentation_Reports/Group_09_Progress_report_1.pdf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hyperlink" Target="https://github.com/aashka05/chess-playing-robotic-arm/blob/docs/Presentation_Reports/Group_09_SRS.pdf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13832" y="546647"/>
            <a:ext cx="2356956" cy="1610947"/>
          </a:xfrm>
          <a:custGeom>
            <a:avLst/>
            <a:gdLst/>
            <a:ahLst/>
            <a:cxnLst/>
            <a:rect l="l" t="t" r="r" b="b"/>
            <a:pathLst>
              <a:path w="2356956" h="1610947">
                <a:moveTo>
                  <a:pt x="0" y="0"/>
                </a:moveTo>
                <a:lnTo>
                  <a:pt x="2356956" y="0"/>
                </a:lnTo>
                <a:lnTo>
                  <a:pt x="2356956" y="1610947"/>
                </a:lnTo>
                <a:lnTo>
                  <a:pt x="0" y="16109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25371" y="546647"/>
            <a:ext cx="1940637" cy="1846159"/>
          </a:xfrm>
          <a:custGeom>
            <a:avLst/>
            <a:gdLst/>
            <a:ahLst/>
            <a:cxnLst/>
            <a:rect l="l" t="t" r="r" b="b"/>
            <a:pathLst>
              <a:path w="1940637" h="1846159">
                <a:moveTo>
                  <a:pt x="0" y="0"/>
                </a:moveTo>
                <a:lnTo>
                  <a:pt x="1940638" y="0"/>
                </a:lnTo>
                <a:lnTo>
                  <a:pt x="1940638" y="1846159"/>
                </a:lnTo>
                <a:lnTo>
                  <a:pt x="0" y="18461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203932" y="460922"/>
            <a:ext cx="15880137" cy="1952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Birla Vishvakarma Mahavidyalaya Engineering College </a:t>
            </a:r>
          </a:p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(An Autonomous Institution)</a:t>
            </a:r>
          </a:p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Managed by Charutar Vidya Mandal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Department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222331" y="2915367"/>
            <a:ext cx="3843338" cy="1682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34"/>
              </a:lnSpc>
            </a:pPr>
            <a:r>
              <a:rPr lang="en-US" sz="384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Mid-1 Examination</a:t>
            </a:r>
          </a:p>
          <a:p>
            <a:pPr algn="ctr">
              <a:lnSpc>
                <a:spcPts val="4734"/>
              </a:lnSpc>
            </a:pPr>
            <a:r>
              <a:rPr lang="en-US" sz="384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(4IT31)</a:t>
            </a:r>
          </a:p>
          <a:p>
            <a:pPr algn="ctr">
              <a:lnSpc>
                <a:spcPts val="3612"/>
              </a:lnSpc>
            </a:pPr>
            <a:r>
              <a:rPr lang="en-US" sz="2937" i="1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Academic Year 2026-27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76100" y="5219700"/>
            <a:ext cx="10976979" cy="915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80"/>
              </a:lnSpc>
              <a:spcBef>
                <a:spcPct val="0"/>
              </a:spcBef>
            </a:pPr>
            <a:r>
              <a:rPr lang="en-US" sz="5200" b="1" spc="-114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Group 09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401815" y="8094834"/>
            <a:ext cx="4168973" cy="160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Team: </a:t>
            </a:r>
          </a:p>
          <a:p>
            <a:pPr algn="r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Aashka Shah (23IT403)</a:t>
            </a:r>
          </a:p>
          <a:p>
            <a:pPr algn="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Veera Agrawal (23IT431)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0" y="6074264"/>
            <a:ext cx="18288000" cy="915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80"/>
              </a:lnSpc>
              <a:spcBef>
                <a:spcPct val="0"/>
              </a:spcBef>
            </a:pPr>
            <a:r>
              <a:rPr lang="en-US" sz="5200" b="1" spc="-11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Chess Playing Robotic Arm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45061" y="0"/>
            <a:ext cx="1079929" cy="1757281"/>
          </a:xfrm>
          <a:custGeom>
            <a:avLst/>
            <a:gdLst/>
            <a:ahLst/>
            <a:cxnLst/>
            <a:rect l="l" t="t" r="r" b="b"/>
            <a:pathLst>
              <a:path w="1079929" h="1757281">
                <a:moveTo>
                  <a:pt x="0" y="0"/>
                </a:moveTo>
                <a:lnTo>
                  <a:pt x="1079929" y="0"/>
                </a:lnTo>
                <a:lnTo>
                  <a:pt x="1079929" y="1757281"/>
                </a:lnTo>
                <a:lnTo>
                  <a:pt x="0" y="17572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137164" y="516376"/>
            <a:ext cx="11005776" cy="190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Project Definition and Objectives</a:t>
            </a:r>
          </a:p>
        </p:txBody>
      </p:sp>
      <p:sp>
        <p:nvSpPr>
          <p:cNvPr id="4" name="Freeform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16607031" y="7599655"/>
            <a:ext cx="1821356" cy="2862132"/>
          </a:xfrm>
          <a:custGeom>
            <a:avLst/>
            <a:gdLst/>
            <a:ahLst/>
            <a:cxnLst/>
            <a:rect l="l" t="t" r="r" b="b"/>
            <a:pathLst>
              <a:path w="1821356" h="2862132">
                <a:moveTo>
                  <a:pt x="1821356" y="2862131"/>
                </a:moveTo>
                <a:lnTo>
                  <a:pt x="0" y="2862131"/>
                </a:lnTo>
                <a:lnTo>
                  <a:pt x="0" y="0"/>
                </a:lnTo>
                <a:lnTo>
                  <a:pt x="1821356" y="0"/>
                </a:lnTo>
                <a:lnTo>
                  <a:pt x="1821356" y="286213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2178946" y="3331602"/>
            <a:ext cx="6895187" cy="5011519"/>
            <a:chOff x="0" y="0"/>
            <a:chExt cx="1598853" cy="1162070"/>
          </a:xfrm>
        </p:grpSpPr>
        <p:sp>
          <p:nvSpPr>
            <p:cNvPr id="6" name="Freeform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1598853" cy="1162070"/>
            </a:xfrm>
            <a:custGeom>
              <a:avLst/>
              <a:gdLst/>
              <a:ahLst/>
              <a:cxnLst/>
              <a:rect l="l" t="t" r="r" b="b"/>
              <a:pathLst>
                <a:path w="1598853" h="1162070">
                  <a:moveTo>
                    <a:pt x="1598853" y="22456"/>
                  </a:moveTo>
                  <a:lnTo>
                    <a:pt x="1598853" y="1139614"/>
                  </a:lnTo>
                  <a:cubicBezTo>
                    <a:pt x="1598853" y="1145570"/>
                    <a:pt x="1596487" y="1151281"/>
                    <a:pt x="1592276" y="1155493"/>
                  </a:cubicBezTo>
                  <a:cubicBezTo>
                    <a:pt x="1588065" y="1159704"/>
                    <a:pt x="1582353" y="1162070"/>
                    <a:pt x="1576397" y="1162070"/>
                  </a:cubicBezTo>
                  <a:lnTo>
                    <a:pt x="22456" y="1162070"/>
                  </a:lnTo>
                  <a:cubicBezTo>
                    <a:pt x="16500" y="1162070"/>
                    <a:pt x="10789" y="1159704"/>
                    <a:pt x="6577" y="1155493"/>
                  </a:cubicBezTo>
                  <a:cubicBezTo>
                    <a:pt x="2366" y="1151281"/>
                    <a:pt x="0" y="1145570"/>
                    <a:pt x="0" y="1139614"/>
                  </a:cubicBezTo>
                  <a:lnTo>
                    <a:pt x="0" y="22456"/>
                  </a:lnTo>
                  <a:cubicBezTo>
                    <a:pt x="0" y="16500"/>
                    <a:pt x="2366" y="10789"/>
                    <a:pt x="6577" y="6577"/>
                  </a:cubicBezTo>
                  <a:cubicBezTo>
                    <a:pt x="10789" y="2366"/>
                    <a:pt x="16500" y="0"/>
                    <a:pt x="22456" y="0"/>
                  </a:cubicBezTo>
                  <a:lnTo>
                    <a:pt x="1576397" y="0"/>
                  </a:lnTo>
                  <a:cubicBezTo>
                    <a:pt x="1582353" y="0"/>
                    <a:pt x="1588065" y="2366"/>
                    <a:pt x="1592276" y="6577"/>
                  </a:cubicBezTo>
                  <a:cubicBezTo>
                    <a:pt x="1596487" y="10789"/>
                    <a:pt x="1598853" y="16500"/>
                    <a:pt x="1598853" y="22456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598853" cy="1200170"/>
            </a:xfrm>
            <a:prstGeom prst="rect">
              <a:avLst/>
            </a:prstGeom>
          </p:spPr>
          <p:txBody>
            <a:bodyPr lIns="57702" tIns="57702" rIns="57702" bIns="57702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586557" y="4499260"/>
            <a:ext cx="6079965" cy="2585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38"/>
              </a:lnSpc>
            </a:pPr>
            <a:r>
              <a:rPr lang="en-US" sz="2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smart chess-playing robotic system that uses computer vision to detect piece movements. The system compares previous and current board states, validates moves using a chess engine, and controls a robotic arm to perform the AI-generated move on the physical board.</a:t>
            </a:r>
          </a:p>
          <a:p>
            <a:pPr algn="just">
              <a:lnSpc>
                <a:spcPts val="2938"/>
              </a:lnSpc>
            </a:pPr>
            <a:endParaRPr lang="en-US" sz="20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463307" y="3847786"/>
            <a:ext cx="2163232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31"/>
              </a:lnSpc>
            </a:pPr>
            <a:r>
              <a:rPr lang="en-US" sz="261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Definition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356691" y="3331602"/>
            <a:ext cx="6895187" cy="5011519"/>
            <a:chOff x="0" y="0"/>
            <a:chExt cx="1816071" cy="1319947"/>
          </a:xfrm>
        </p:grpSpPr>
        <p:sp>
          <p:nvSpPr>
            <p:cNvPr id="11" name="Freeform 1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1816071" cy="1319947"/>
            </a:xfrm>
            <a:custGeom>
              <a:avLst/>
              <a:gdLst/>
              <a:ahLst/>
              <a:cxnLst/>
              <a:rect l="l" t="t" r="r" b="b"/>
              <a:pathLst>
                <a:path w="1816071" h="1319947">
                  <a:moveTo>
                    <a:pt x="1816071" y="22456"/>
                  </a:moveTo>
                  <a:lnTo>
                    <a:pt x="1816071" y="1297491"/>
                  </a:lnTo>
                  <a:cubicBezTo>
                    <a:pt x="1816071" y="1303447"/>
                    <a:pt x="1813705" y="1309158"/>
                    <a:pt x="1809494" y="1313370"/>
                  </a:cubicBezTo>
                  <a:cubicBezTo>
                    <a:pt x="1805282" y="1317581"/>
                    <a:pt x="1799571" y="1319947"/>
                    <a:pt x="1793615" y="1319947"/>
                  </a:cubicBezTo>
                  <a:lnTo>
                    <a:pt x="22456" y="1319947"/>
                  </a:lnTo>
                  <a:cubicBezTo>
                    <a:pt x="16500" y="1319947"/>
                    <a:pt x="10789" y="1317581"/>
                    <a:pt x="6577" y="1313370"/>
                  </a:cubicBezTo>
                  <a:cubicBezTo>
                    <a:pt x="2366" y="1309158"/>
                    <a:pt x="0" y="1303447"/>
                    <a:pt x="0" y="1297491"/>
                  </a:cubicBezTo>
                  <a:lnTo>
                    <a:pt x="0" y="22456"/>
                  </a:lnTo>
                  <a:cubicBezTo>
                    <a:pt x="0" y="16500"/>
                    <a:pt x="2366" y="10789"/>
                    <a:pt x="6577" y="6577"/>
                  </a:cubicBezTo>
                  <a:cubicBezTo>
                    <a:pt x="10789" y="2366"/>
                    <a:pt x="16500" y="0"/>
                    <a:pt x="22456" y="0"/>
                  </a:cubicBezTo>
                  <a:lnTo>
                    <a:pt x="1793615" y="0"/>
                  </a:lnTo>
                  <a:cubicBezTo>
                    <a:pt x="1799571" y="0"/>
                    <a:pt x="1805282" y="2366"/>
                    <a:pt x="1809494" y="6577"/>
                  </a:cubicBezTo>
                  <a:cubicBezTo>
                    <a:pt x="1813705" y="10789"/>
                    <a:pt x="1816071" y="16500"/>
                    <a:pt x="1816071" y="22456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816071" cy="13580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439195" y="8131861"/>
            <a:ext cx="6730180" cy="211260"/>
            <a:chOff x="0" y="0"/>
            <a:chExt cx="1772558" cy="55641"/>
          </a:xfrm>
        </p:grpSpPr>
        <p:sp>
          <p:nvSpPr>
            <p:cNvPr id="14" name="Freeform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1772558" cy="55641"/>
            </a:xfrm>
            <a:custGeom>
              <a:avLst/>
              <a:gdLst/>
              <a:ahLst/>
              <a:cxnLst/>
              <a:rect l="l" t="t" r="r" b="b"/>
              <a:pathLst>
                <a:path w="1772558" h="55641">
                  <a:moveTo>
                    <a:pt x="27820" y="0"/>
                  </a:moveTo>
                  <a:lnTo>
                    <a:pt x="1744737" y="0"/>
                  </a:lnTo>
                  <a:cubicBezTo>
                    <a:pt x="1752116" y="0"/>
                    <a:pt x="1759192" y="2931"/>
                    <a:pt x="1764409" y="8148"/>
                  </a:cubicBezTo>
                  <a:cubicBezTo>
                    <a:pt x="1769627" y="13366"/>
                    <a:pt x="1772558" y="20442"/>
                    <a:pt x="1772558" y="27820"/>
                  </a:cubicBezTo>
                  <a:lnTo>
                    <a:pt x="1772558" y="27820"/>
                  </a:lnTo>
                  <a:cubicBezTo>
                    <a:pt x="1772558" y="43185"/>
                    <a:pt x="1760102" y="55641"/>
                    <a:pt x="1744737" y="55641"/>
                  </a:cubicBezTo>
                  <a:lnTo>
                    <a:pt x="27820" y="55641"/>
                  </a:lnTo>
                  <a:cubicBezTo>
                    <a:pt x="20442" y="55641"/>
                    <a:pt x="13366" y="52710"/>
                    <a:pt x="8148" y="47492"/>
                  </a:cubicBezTo>
                  <a:cubicBezTo>
                    <a:pt x="2931" y="42275"/>
                    <a:pt x="0" y="35199"/>
                    <a:pt x="0" y="27820"/>
                  </a:cubicBezTo>
                  <a:lnTo>
                    <a:pt x="0" y="27820"/>
                  </a:lnTo>
                  <a:cubicBezTo>
                    <a:pt x="0" y="20442"/>
                    <a:pt x="2931" y="13366"/>
                    <a:pt x="8148" y="8148"/>
                  </a:cubicBezTo>
                  <a:cubicBezTo>
                    <a:pt x="13366" y="2931"/>
                    <a:pt x="20442" y="0"/>
                    <a:pt x="27820" y="0"/>
                  </a:cubicBezTo>
                  <a:close/>
                </a:path>
              </a:pathLst>
            </a:custGeom>
            <a:solidFill>
              <a:srgbClr val="303F9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772558" cy="937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 rot="-5400000">
            <a:off x="9931301" y="3665182"/>
            <a:ext cx="615481" cy="615481"/>
            <a:chOff x="0" y="0"/>
            <a:chExt cx="812800" cy="812800"/>
          </a:xfrm>
        </p:grpSpPr>
        <p:sp>
          <p:nvSpPr>
            <p:cNvPr id="17" name="Freeform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303F9F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96546" tIns="96546" rIns="96546" bIns="96546" rtlCol="0" anchor="ctr"/>
            <a:lstStyle/>
            <a:p>
              <a:pPr algn="ctr">
                <a:lnSpc>
                  <a:spcPts val="19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9824685" y="4355041"/>
            <a:ext cx="5959199" cy="3328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88" lvl="1" indent="-226694" algn="l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Automate physical chess gameplay and help remote chess players. </a:t>
            </a:r>
          </a:p>
          <a:p>
            <a:pPr marL="453388" lvl="1" indent="-226694" algn="l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Detect chess moves using camera. </a:t>
            </a:r>
          </a:p>
          <a:p>
            <a:pPr marL="453388" lvl="1" indent="-226694" algn="l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Integrate AI for intelligent move generation. </a:t>
            </a:r>
          </a:p>
          <a:p>
            <a:pPr marL="453388" lvl="1" indent="-226694" algn="l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Control a robotic arm for piece movement. </a:t>
            </a:r>
          </a:p>
          <a:p>
            <a:pPr marL="453388" lvl="1" indent="-226694" algn="l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Demonstrate the application of AI and robotics in board games.</a:t>
            </a:r>
          </a:p>
          <a:p>
            <a:pPr algn="l">
              <a:lnSpc>
                <a:spcPts val="2939"/>
              </a:lnSpc>
            </a:pPr>
            <a:endParaRPr lang="en-US" sz="20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0684021" y="3787185"/>
            <a:ext cx="4354138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8"/>
              </a:lnSpc>
            </a:pPr>
            <a:r>
              <a:rPr lang="en-US" sz="2607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Objectives</a:t>
            </a:r>
          </a:p>
        </p:txBody>
      </p:sp>
      <p:grpSp>
        <p:nvGrpSpPr>
          <p:cNvPr id="21" name="Group 21"/>
          <p:cNvGrpSpPr/>
          <p:nvPr/>
        </p:nvGrpSpPr>
        <p:grpSpPr>
          <a:xfrm rot="-5400000">
            <a:off x="2653405" y="3721651"/>
            <a:ext cx="615481" cy="615481"/>
            <a:chOff x="0" y="0"/>
            <a:chExt cx="812800" cy="812800"/>
          </a:xfrm>
        </p:grpSpPr>
        <p:sp>
          <p:nvSpPr>
            <p:cNvPr id="22" name="Freeform 2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303F9F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96546" tIns="96546" rIns="96546" bIns="96546" rtlCol="0" anchor="ctr"/>
            <a:lstStyle/>
            <a:p>
              <a:pPr algn="ctr">
                <a:lnSpc>
                  <a:spcPts val="19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261449" y="8131861"/>
            <a:ext cx="6730180" cy="211260"/>
            <a:chOff x="0" y="0"/>
            <a:chExt cx="1772558" cy="55641"/>
          </a:xfrm>
        </p:grpSpPr>
        <p:sp>
          <p:nvSpPr>
            <p:cNvPr id="25" name="Freeform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1772558" cy="55641"/>
            </a:xfrm>
            <a:custGeom>
              <a:avLst/>
              <a:gdLst/>
              <a:ahLst/>
              <a:cxnLst/>
              <a:rect l="l" t="t" r="r" b="b"/>
              <a:pathLst>
                <a:path w="1772558" h="55641">
                  <a:moveTo>
                    <a:pt x="27820" y="0"/>
                  </a:moveTo>
                  <a:lnTo>
                    <a:pt x="1744737" y="0"/>
                  </a:lnTo>
                  <a:cubicBezTo>
                    <a:pt x="1752116" y="0"/>
                    <a:pt x="1759192" y="2931"/>
                    <a:pt x="1764409" y="8148"/>
                  </a:cubicBezTo>
                  <a:cubicBezTo>
                    <a:pt x="1769627" y="13366"/>
                    <a:pt x="1772558" y="20442"/>
                    <a:pt x="1772558" y="27820"/>
                  </a:cubicBezTo>
                  <a:lnTo>
                    <a:pt x="1772558" y="27820"/>
                  </a:lnTo>
                  <a:cubicBezTo>
                    <a:pt x="1772558" y="43185"/>
                    <a:pt x="1760102" y="55641"/>
                    <a:pt x="1744737" y="55641"/>
                  </a:cubicBezTo>
                  <a:lnTo>
                    <a:pt x="27820" y="55641"/>
                  </a:lnTo>
                  <a:cubicBezTo>
                    <a:pt x="20442" y="55641"/>
                    <a:pt x="13366" y="52710"/>
                    <a:pt x="8148" y="47492"/>
                  </a:cubicBezTo>
                  <a:cubicBezTo>
                    <a:pt x="2931" y="42275"/>
                    <a:pt x="0" y="35199"/>
                    <a:pt x="0" y="27820"/>
                  </a:cubicBezTo>
                  <a:lnTo>
                    <a:pt x="0" y="27820"/>
                  </a:lnTo>
                  <a:cubicBezTo>
                    <a:pt x="0" y="20442"/>
                    <a:pt x="2931" y="13366"/>
                    <a:pt x="8148" y="8148"/>
                  </a:cubicBezTo>
                  <a:cubicBezTo>
                    <a:pt x="13366" y="2931"/>
                    <a:pt x="20442" y="0"/>
                    <a:pt x="27820" y="0"/>
                  </a:cubicBezTo>
                  <a:close/>
                </a:path>
              </a:pathLst>
            </a:custGeom>
            <a:solidFill>
              <a:srgbClr val="303F9F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1772558" cy="937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3368" y="1839972"/>
            <a:ext cx="7817296" cy="6357660"/>
            <a:chOff x="0" y="0"/>
            <a:chExt cx="10423061" cy="8476879"/>
          </a:xfrm>
        </p:grpSpPr>
        <p:grpSp>
          <p:nvGrpSpPr>
            <p:cNvPr id="3" name="Group 3"/>
            <p:cNvGrpSpPr/>
            <p:nvPr/>
          </p:nvGrpSpPr>
          <p:grpSpPr>
            <a:xfrm>
              <a:off x="153314" y="545673"/>
              <a:ext cx="3020881" cy="3526502"/>
              <a:chOff x="0" y="0"/>
              <a:chExt cx="620269" cy="724087"/>
            </a:xfrm>
          </p:grpSpPr>
          <p:sp>
            <p:nvSpPr>
              <p:cNvPr id="4" name="Freeform 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0" y="0"/>
                <a:ext cx="620269" cy="724087"/>
              </a:xfrm>
              <a:custGeom>
                <a:avLst/>
                <a:gdLst/>
                <a:ahLst/>
                <a:cxnLst/>
                <a:rect l="l" t="t" r="r" b="b"/>
                <a:pathLst>
                  <a:path w="620269" h="724087">
                    <a:moveTo>
                      <a:pt x="206868" y="705018"/>
                    </a:moveTo>
                    <a:cubicBezTo>
                      <a:pt x="238668" y="716532"/>
                      <a:pt x="274820" y="724087"/>
                      <a:pt x="310302" y="724087"/>
                    </a:cubicBezTo>
                    <a:cubicBezTo>
                      <a:pt x="345785" y="724087"/>
                      <a:pt x="379928" y="717610"/>
                      <a:pt x="411392" y="706096"/>
                    </a:cubicBezTo>
                    <a:cubicBezTo>
                      <a:pt x="412063" y="705737"/>
                      <a:pt x="412732" y="705737"/>
                      <a:pt x="413401" y="705377"/>
                    </a:cubicBezTo>
                    <a:cubicBezTo>
                      <a:pt x="531564" y="659322"/>
                      <a:pt x="618596" y="537708"/>
                      <a:pt x="620269" y="397556"/>
                    </a:cubicBezTo>
                    <a:lnTo>
                      <a:pt x="620269" y="0"/>
                    </a:lnTo>
                    <a:lnTo>
                      <a:pt x="0" y="0"/>
                    </a:lnTo>
                    <a:lnTo>
                      <a:pt x="0" y="397260"/>
                    </a:lnTo>
                    <a:cubicBezTo>
                      <a:pt x="1674" y="538427"/>
                      <a:pt x="87367" y="660042"/>
                      <a:pt x="206868" y="705018"/>
                    </a:cubicBezTo>
                    <a:close/>
                  </a:path>
                </a:pathLst>
              </a:custGeom>
              <a:solidFill>
                <a:srgbClr val="E5E5E5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38100"/>
                <a:ext cx="620269" cy="5589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43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32104" y="304921"/>
              <a:ext cx="3263301" cy="240752"/>
              <a:chOff x="0" y="0"/>
              <a:chExt cx="737491" cy="5440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737491" cy="54409"/>
              </a:xfrm>
              <a:custGeom>
                <a:avLst/>
                <a:gdLst/>
                <a:ahLst/>
                <a:cxnLst/>
                <a:rect l="l" t="t" r="r" b="b"/>
                <a:pathLst>
                  <a:path w="737491" h="54409">
                    <a:moveTo>
                      <a:pt x="27204" y="0"/>
                    </a:moveTo>
                    <a:lnTo>
                      <a:pt x="710287" y="0"/>
                    </a:lnTo>
                    <a:cubicBezTo>
                      <a:pt x="725312" y="0"/>
                      <a:pt x="737491" y="12180"/>
                      <a:pt x="737491" y="27204"/>
                    </a:cubicBezTo>
                    <a:lnTo>
                      <a:pt x="737491" y="27204"/>
                    </a:lnTo>
                    <a:cubicBezTo>
                      <a:pt x="737491" y="34420"/>
                      <a:pt x="734625" y="41339"/>
                      <a:pt x="729523" y="46441"/>
                    </a:cubicBezTo>
                    <a:cubicBezTo>
                      <a:pt x="724422" y="51543"/>
                      <a:pt x="717502" y="54409"/>
                      <a:pt x="710287" y="54409"/>
                    </a:cubicBezTo>
                    <a:lnTo>
                      <a:pt x="27204" y="54409"/>
                    </a:lnTo>
                    <a:cubicBezTo>
                      <a:pt x="19989" y="54409"/>
                      <a:pt x="13070" y="51543"/>
                      <a:pt x="7968" y="46441"/>
                    </a:cubicBezTo>
                    <a:cubicBezTo>
                      <a:pt x="2866" y="41339"/>
                      <a:pt x="0" y="34420"/>
                      <a:pt x="0" y="27204"/>
                    </a:cubicBezTo>
                    <a:lnTo>
                      <a:pt x="0" y="27204"/>
                    </a:lnTo>
                    <a:cubicBezTo>
                      <a:pt x="0" y="19989"/>
                      <a:pt x="2866" y="13070"/>
                      <a:pt x="7968" y="7968"/>
                    </a:cubicBezTo>
                    <a:cubicBezTo>
                      <a:pt x="13070" y="2866"/>
                      <a:pt x="19989" y="0"/>
                      <a:pt x="27204" y="0"/>
                    </a:cubicBezTo>
                    <a:close/>
                  </a:path>
                </a:pathLst>
              </a:custGeom>
              <a:solidFill>
                <a:srgbClr val="303F9F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737491" cy="925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270394" y="820641"/>
              <a:ext cx="2722514" cy="635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7"/>
                </a:lnSpc>
              </a:pPr>
              <a:r>
                <a:rPr lang="en-US" sz="1573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Camera-Based Board Monitoring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3518" y="1871048"/>
              <a:ext cx="2520474" cy="952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7"/>
                </a:lnSpc>
              </a:pPr>
              <a:r>
                <a:rPr lang="en-US" sz="157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Detect piece positions using camera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 rot="-5400000">
              <a:off x="165064" y="42602"/>
              <a:ext cx="820641" cy="735437"/>
              <a:chOff x="0" y="0"/>
              <a:chExt cx="812800" cy="728410"/>
            </a:xfrm>
          </p:grpSpPr>
          <p:sp>
            <p:nvSpPr>
              <p:cNvPr id="12" name="Freeform 1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0" y="0"/>
                <a:ext cx="812800" cy="72841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28410">
                    <a:moveTo>
                      <a:pt x="406400" y="0"/>
                    </a:moveTo>
                    <a:cubicBezTo>
                      <a:pt x="181951" y="0"/>
                      <a:pt x="0" y="163060"/>
                      <a:pt x="0" y="364205"/>
                    </a:cubicBezTo>
                    <a:cubicBezTo>
                      <a:pt x="0" y="565350"/>
                      <a:pt x="181951" y="728410"/>
                      <a:pt x="406400" y="728410"/>
                    </a:cubicBezTo>
                    <a:cubicBezTo>
                      <a:pt x="630849" y="728410"/>
                      <a:pt x="812800" y="565350"/>
                      <a:pt x="812800" y="364205"/>
                    </a:cubicBezTo>
                    <a:cubicBezTo>
                      <a:pt x="812800" y="163060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sq">
                <a:solidFill>
                  <a:srgbClr val="303F9F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76200" y="39713"/>
                <a:ext cx="660400" cy="620408"/>
              </a:xfrm>
              <a:prstGeom prst="rect">
                <a:avLst/>
              </a:prstGeom>
            </p:spPr>
            <p:txBody>
              <a:bodyPr lIns="110458" tIns="110458" rIns="110458" bIns="110458" rtlCol="0" anchor="ctr"/>
              <a:lstStyle/>
              <a:p>
                <a:pPr algn="ctr">
                  <a:lnSpc>
                    <a:spcPts val="19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207666" y="182144"/>
              <a:ext cx="735437" cy="4182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3717142" y="545673"/>
              <a:ext cx="3020881" cy="3526502"/>
              <a:chOff x="0" y="0"/>
              <a:chExt cx="620269" cy="724087"/>
            </a:xfrm>
          </p:grpSpPr>
          <p:sp>
            <p:nvSpPr>
              <p:cNvPr id="16" name="Freeform 1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0" y="0"/>
                <a:ext cx="620269" cy="724087"/>
              </a:xfrm>
              <a:custGeom>
                <a:avLst/>
                <a:gdLst/>
                <a:ahLst/>
                <a:cxnLst/>
                <a:rect l="l" t="t" r="r" b="b"/>
                <a:pathLst>
                  <a:path w="620269" h="724087">
                    <a:moveTo>
                      <a:pt x="206868" y="705018"/>
                    </a:moveTo>
                    <a:cubicBezTo>
                      <a:pt x="238668" y="716532"/>
                      <a:pt x="274820" y="724087"/>
                      <a:pt x="310302" y="724087"/>
                    </a:cubicBezTo>
                    <a:cubicBezTo>
                      <a:pt x="345785" y="724087"/>
                      <a:pt x="379928" y="717610"/>
                      <a:pt x="411392" y="706096"/>
                    </a:cubicBezTo>
                    <a:cubicBezTo>
                      <a:pt x="412063" y="705737"/>
                      <a:pt x="412732" y="705737"/>
                      <a:pt x="413401" y="705377"/>
                    </a:cubicBezTo>
                    <a:cubicBezTo>
                      <a:pt x="531564" y="659322"/>
                      <a:pt x="618596" y="537708"/>
                      <a:pt x="620269" y="397556"/>
                    </a:cubicBezTo>
                    <a:lnTo>
                      <a:pt x="620269" y="0"/>
                    </a:lnTo>
                    <a:lnTo>
                      <a:pt x="0" y="0"/>
                    </a:lnTo>
                    <a:lnTo>
                      <a:pt x="0" y="397260"/>
                    </a:lnTo>
                    <a:cubicBezTo>
                      <a:pt x="1674" y="538427"/>
                      <a:pt x="87367" y="660042"/>
                      <a:pt x="206868" y="705018"/>
                    </a:cubicBezTo>
                    <a:close/>
                  </a:path>
                </a:pathLst>
              </a:custGeom>
              <a:solidFill>
                <a:srgbClr val="E5E5E5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38100"/>
                <a:ext cx="620269" cy="5589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43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3595932" y="304921"/>
              <a:ext cx="3263301" cy="240752"/>
              <a:chOff x="0" y="0"/>
              <a:chExt cx="737491" cy="54409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737491" cy="54409"/>
              </a:xfrm>
              <a:custGeom>
                <a:avLst/>
                <a:gdLst/>
                <a:ahLst/>
                <a:cxnLst/>
                <a:rect l="l" t="t" r="r" b="b"/>
                <a:pathLst>
                  <a:path w="737491" h="54409">
                    <a:moveTo>
                      <a:pt x="27204" y="0"/>
                    </a:moveTo>
                    <a:lnTo>
                      <a:pt x="710287" y="0"/>
                    </a:lnTo>
                    <a:cubicBezTo>
                      <a:pt x="725312" y="0"/>
                      <a:pt x="737491" y="12180"/>
                      <a:pt x="737491" y="27204"/>
                    </a:cubicBezTo>
                    <a:lnTo>
                      <a:pt x="737491" y="27204"/>
                    </a:lnTo>
                    <a:cubicBezTo>
                      <a:pt x="737491" y="34420"/>
                      <a:pt x="734625" y="41339"/>
                      <a:pt x="729523" y="46441"/>
                    </a:cubicBezTo>
                    <a:cubicBezTo>
                      <a:pt x="724422" y="51543"/>
                      <a:pt x="717502" y="54409"/>
                      <a:pt x="710287" y="54409"/>
                    </a:cubicBezTo>
                    <a:lnTo>
                      <a:pt x="27204" y="54409"/>
                    </a:lnTo>
                    <a:cubicBezTo>
                      <a:pt x="19989" y="54409"/>
                      <a:pt x="13070" y="51543"/>
                      <a:pt x="7968" y="46441"/>
                    </a:cubicBezTo>
                    <a:cubicBezTo>
                      <a:pt x="2866" y="41339"/>
                      <a:pt x="0" y="34420"/>
                      <a:pt x="0" y="27204"/>
                    </a:cubicBezTo>
                    <a:lnTo>
                      <a:pt x="0" y="27204"/>
                    </a:lnTo>
                    <a:cubicBezTo>
                      <a:pt x="0" y="19989"/>
                      <a:pt x="2866" y="13070"/>
                      <a:pt x="7968" y="7968"/>
                    </a:cubicBezTo>
                    <a:cubicBezTo>
                      <a:pt x="13070" y="2866"/>
                      <a:pt x="19989" y="0"/>
                      <a:pt x="27204" y="0"/>
                    </a:cubicBezTo>
                    <a:close/>
                  </a:path>
                </a:pathLst>
              </a:custGeom>
              <a:solidFill>
                <a:srgbClr val="303F9F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737491" cy="925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4053279" y="820641"/>
              <a:ext cx="2348607" cy="635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7"/>
                </a:lnSpc>
              </a:pPr>
              <a:r>
                <a:rPr lang="en-US" sz="1573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Move Detection Module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967346" y="1871048"/>
              <a:ext cx="2520474" cy="952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7"/>
                </a:lnSpc>
              </a:pPr>
              <a:r>
                <a:rPr lang="en-US" sz="157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Compare board states and identify moves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 rot="-5400000">
              <a:off x="3728892" y="42602"/>
              <a:ext cx="820641" cy="735437"/>
              <a:chOff x="0" y="0"/>
              <a:chExt cx="812800" cy="728410"/>
            </a:xfrm>
          </p:grpSpPr>
          <p:sp>
            <p:nvSpPr>
              <p:cNvPr id="24" name="Freeform 2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0" y="0"/>
                <a:ext cx="812800" cy="72841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28410">
                    <a:moveTo>
                      <a:pt x="406400" y="0"/>
                    </a:moveTo>
                    <a:cubicBezTo>
                      <a:pt x="181951" y="0"/>
                      <a:pt x="0" y="163060"/>
                      <a:pt x="0" y="364205"/>
                    </a:cubicBezTo>
                    <a:cubicBezTo>
                      <a:pt x="0" y="565350"/>
                      <a:pt x="181951" y="728410"/>
                      <a:pt x="406400" y="728410"/>
                    </a:cubicBezTo>
                    <a:cubicBezTo>
                      <a:pt x="630849" y="728410"/>
                      <a:pt x="812800" y="565350"/>
                      <a:pt x="812800" y="364205"/>
                    </a:cubicBezTo>
                    <a:cubicBezTo>
                      <a:pt x="812800" y="163060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sq">
                <a:solidFill>
                  <a:srgbClr val="303F9F"/>
                </a:solidFill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6200" y="39713"/>
                <a:ext cx="660400" cy="620408"/>
              </a:xfrm>
              <a:prstGeom prst="rect">
                <a:avLst/>
              </a:prstGeom>
            </p:spPr>
            <p:txBody>
              <a:bodyPr lIns="110458" tIns="110458" rIns="110458" bIns="110458" rtlCol="0" anchor="ctr"/>
              <a:lstStyle/>
              <a:p>
                <a:pPr algn="ctr">
                  <a:lnSpc>
                    <a:spcPts val="19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3771494" y="182144"/>
              <a:ext cx="735437" cy="4182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2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7280970" y="545673"/>
              <a:ext cx="3020881" cy="3526502"/>
              <a:chOff x="0" y="0"/>
              <a:chExt cx="620269" cy="724087"/>
            </a:xfrm>
          </p:grpSpPr>
          <p:sp>
            <p:nvSpPr>
              <p:cNvPr id="28" name="Freeform 2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0" y="0"/>
                <a:ext cx="620269" cy="724087"/>
              </a:xfrm>
              <a:custGeom>
                <a:avLst/>
                <a:gdLst/>
                <a:ahLst/>
                <a:cxnLst/>
                <a:rect l="l" t="t" r="r" b="b"/>
                <a:pathLst>
                  <a:path w="620269" h="724087">
                    <a:moveTo>
                      <a:pt x="206868" y="705018"/>
                    </a:moveTo>
                    <a:cubicBezTo>
                      <a:pt x="238668" y="716532"/>
                      <a:pt x="274820" y="724087"/>
                      <a:pt x="310302" y="724087"/>
                    </a:cubicBezTo>
                    <a:cubicBezTo>
                      <a:pt x="345785" y="724087"/>
                      <a:pt x="379928" y="717610"/>
                      <a:pt x="411392" y="706096"/>
                    </a:cubicBezTo>
                    <a:cubicBezTo>
                      <a:pt x="412063" y="705737"/>
                      <a:pt x="412732" y="705737"/>
                      <a:pt x="413401" y="705377"/>
                    </a:cubicBezTo>
                    <a:cubicBezTo>
                      <a:pt x="531564" y="659322"/>
                      <a:pt x="618596" y="537708"/>
                      <a:pt x="620269" y="397556"/>
                    </a:cubicBezTo>
                    <a:lnTo>
                      <a:pt x="620269" y="0"/>
                    </a:lnTo>
                    <a:lnTo>
                      <a:pt x="0" y="0"/>
                    </a:lnTo>
                    <a:lnTo>
                      <a:pt x="0" y="397260"/>
                    </a:lnTo>
                    <a:cubicBezTo>
                      <a:pt x="1674" y="538427"/>
                      <a:pt x="87367" y="660042"/>
                      <a:pt x="206868" y="705018"/>
                    </a:cubicBezTo>
                    <a:close/>
                  </a:path>
                </a:pathLst>
              </a:custGeom>
              <a:solidFill>
                <a:srgbClr val="E5E5E5"/>
              </a:soli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38100"/>
                <a:ext cx="620269" cy="5589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439"/>
                  </a:lnSpc>
                </a:pPr>
                <a:endParaRPr/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7159760" y="304921"/>
              <a:ext cx="3263301" cy="240752"/>
              <a:chOff x="0" y="0"/>
              <a:chExt cx="737491" cy="54409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737491" cy="54409"/>
              </a:xfrm>
              <a:custGeom>
                <a:avLst/>
                <a:gdLst/>
                <a:ahLst/>
                <a:cxnLst/>
                <a:rect l="l" t="t" r="r" b="b"/>
                <a:pathLst>
                  <a:path w="737491" h="54409">
                    <a:moveTo>
                      <a:pt x="27204" y="0"/>
                    </a:moveTo>
                    <a:lnTo>
                      <a:pt x="710287" y="0"/>
                    </a:lnTo>
                    <a:cubicBezTo>
                      <a:pt x="725312" y="0"/>
                      <a:pt x="737491" y="12180"/>
                      <a:pt x="737491" y="27204"/>
                    </a:cubicBezTo>
                    <a:lnTo>
                      <a:pt x="737491" y="27204"/>
                    </a:lnTo>
                    <a:cubicBezTo>
                      <a:pt x="737491" y="34420"/>
                      <a:pt x="734625" y="41339"/>
                      <a:pt x="729523" y="46441"/>
                    </a:cubicBezTo>
                    <a:cubicBezTo>
                      <a:pt x="724422" y="51543"/>
                      <a:pt x="717502" y="54409"/>
                      <a:pt x="710287" y="54409"/>
                    </a:cubicBezTo>
                    <a:lnTo>
                      <a:pt x="27204" y="54409"/>
                    </a:lnTo>
                    <a:cubicBezTo>
                      <a:pt x="19989" y="54409"/>
                      <a:pt x="13070" y="51543"/>
                      <a:pt x="7968" y="46441"/>
                    </a:cubicBezTo>
                    <a:cubicBezTo>
                      <a:pt x="2866" y="41339"/>
                      <a:pt x="0" y="34420"/>
                      <a:pt x="0" y="27204"/>
                    </a:cubicBezTo>
                    <a:lnTo>
                      <a:pt x="0" y="27204"/>
                    </a:lnTo>
                    <a:cubicBezTo>
                      <a:pt x="0" y="19989"/>
                      <a:pt x="2866" y="13070"/>
                      <a:pt x="7968" y="7968"/>
                    </a:cubicBezTo>
                    <a:cubicBezTo>
                      <a:pt x="13070" y="2866"/>
                      <a:pt x="19989" y="0"/>
                      <a:pt x="27204" y="0"/>
                    </a:cubicBezTo>
                    <a:close/>
                  </a:path>
                </a:pathLst>
              </a:custGeom>
              <a:solidFill>
                <a:srgbClr val="303F9F"/>
              </a:soli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0" y="-38100"/>
                <a:ext cx="737491" cy="925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7703040" y="820641"/>
              <a:ext cx="2112533" cy="635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7"/>
                </a:lnSpc>
              </a:pPr>
              <a:r>
                <a:rPr lang="en-US" sz="1573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Chess AI Engine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31174" y="1871048"/>
              <a:ext cx="2520474" cy="952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7"/>
                </a:lnSpc>
              </a:pPr>
              <a:r>
                <a:rPr lang="en-US" sz="157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Validate moves and generate optimal responses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 rot="-5400000">
              <a:off x="7292720" y="42602"/>
              <a:ext cx="820641" cy="735437"/>
              <a:chOff x="0" y="0"/>
              <a:chExt cx="812800" cy="728410"/>
            </a:xfrm>
          </p:grpSpPr>
          <p:sp>
            <p:nvSpPr>
              <p:cNvPr id="36" name="Freeform 3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0" y="0"/>
                <a:ext cx="812800" cy="72841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28410">
                    <a:moveTo>
                      <a:pt x="406400" y="0"/>
                    </a:moveTo>
                    <a:cubicBezTo>
                      <a:pt x="181951" y="0"/>
                      <a:pt x="0" y="163060"/>
                      <a:pt x="0" y="364205"/>
                    </a:cubicBezTo>
                    <a:cubicBezTo>
                      <a:pt x="0" y="565350"/>
                      <a:pt x="181951" y="728410"/>
                      <a:pt x="406400" y="728410"/>
                    </a:cubicBezTo>
                    <a:cubicBezTo>
                      <a:pt x="630849" y="728410"/>
                      <a:pt x="812800" y="565350"/>
                      <a:pt x="812800" y="364205"/>
                    </a:cubicBezTo>
                    <a:cubicBezTo>
                      <a:pt x="812800" y="163060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sq">
                <a:solidFill>
                  <a:srgbClr val="303F9F"/>
                </a:solidFill>
                <a:prstDash val="solid"/>
                <a:miter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76200" y="39713"/>
                <a:ext cx="660400" cy="620408"/>
              </a:xfrm>
              <a:prstGeom prst="rect">
                <a:avLst/>
              </a:prstGeom>
            </p:spPr>
            <p:txBody>
              <a:bodyPr lIns="110458" tIns="110458" rIns="110458" bIns="110458" rtlCol="0" anchor="ctr"/>
              <a:lstStyle/>
              <a:p>
                <a:pPr algn="ctr">
                  <a:lnSpc>
                    <a:spcPts val="19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38" name="TextBox 38"/>
            <p:cNvSpPr txBox="1"/>
            <p:nvPr/>
          </p:nvSpPr>
          <p:spPr>
            <a:xfrm>
              <a:off x="7335322" y="182144"/>
              <a:ext cx="735437" cy="4182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3</a:t>
              </a:r>
            </a:p>
          </p:txBody>
        </p:sp>
        <p:grpSp>
          <p:nvGrpSpPr>
            <p:cNvPr id="39" name="Group 39"/>
            <p:cNvGrpSpPr/>
            <p:nvPr/>
          </p:nvGrpSpPr>
          <p:grpSpPr>
            <a:xfrm>
              <a:off x="121210" y="4950377"/>
              <a:ext cx="3020881" cy="3526502"/>
              <a:chOff x="0" y="0"/>
              <a:chExt cx="620269" cy="724087"/>
            </a:xfrm>
          </p:grpSpPr>
          <p:sp>
            <p:nvSpPr>
              <p:cNvPr id="40" name="Freeform 4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0" y="0"/>
                <a:ext cx="620269" cy="724087"/>
              </a:xfrm>
              <a:custGeom>
                <a:avLst/>
                <a:gdLst/>
                <a:ahLst/>
                <a:cxnLst/>
                <a:rect l="l" t="t" r="r" b="b"/>
                <a:pathLst>
                  <a:path w="620269" h="724087">
                    <a:moveTo>
                      <a:pt x="206868" y="705018"/>
                    </a:moveTo>
                    <a:cubicBezTo>
                      <a:pt x="238668" y="716532"/>
                      <a:pt x="274820" y="724087"/>
                      <a:pt x="310302" y="724087"/>
                    </a:cubicBezTo>
                    <a:cubicBezTo>
                      <a:pt x="345785" y="724087"/>
                      <a:pt x="379928" y="717610"/>
                      <a:pt x="411392" y="706096"/>
                    </a:cubicBezTo>
                    <a:cubicBezTo>
                      <a:pt x="412063" y="705737"/>
                      <a:pt x="412732" y="705737"/>
                      <a:pt x="413401" y="705377"/>
                    </a:cubicBezTo>
                    <a:cubicBezTo>
                      <a:pt x="531564" y="659322"/>
                      <a:pt x="618596" y="537708"/>
                      <a:pt x="620269" y="397556"/>
                    </a:cubicBezTo>
                    <a:lnTo>
                      <a:pt x="620269" y="0"/>
                    </a:lnTo>
                    <a:lnTo>
                      <a:pt x="0" y="0"/>
                    </a:lnTo>
                    <a:lnTo>
                      <a:pt x="0" y="397260"/>
                    </a:lnTo>
                    <a:cubicBezTo>
                      <a:pt x="1674" y="538427"/>
                      <a:pt x="87367" y="660042"/>
                      <a:pt x="206868" y="705018"/>
                    </a:cubicBezTo>
                    <a:close/>
                  </a:path>
                </a:pathLst>
              </a:custGeom>
              <a:solidFill>
                <a:srgbClr val="E5E5E5"/>
              </a:solidFill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0" y="38100"/>
                <a:ext cx="620269" cy="5589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439"/>
                  </a:lnSpc>
                </a:pPr>
                <a:endParaRPr/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0" y="4709625"/>
              <a:ext cx="3263301" cy="240752"/>
              <a:chOff x="0" y="0"/>
              <a:chExt cx="737491" cy="54409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737491" cy="54409"/>
              </a:xfrm>
              <a:custGeom>
                <a:avLst/>
                <a:gdLst/>
                <a:ahLst/>
                <a:cxnLst/>
                <a:rect l="l" t="t" r="r" b="b"/>
                <a:pathLst>
                  <a:path w="737491" h="54409">
                    <a:moveTo>
                      <a:pt x="27204" y="0"/>
                    </a:moveTo>
                    <a:lnTo>
                      <a:pt x="710287" y="0"/>
                    </a:lnTo>
                    <a:cubicBezTo>
                      <a:pt x="725312" y="0"/>
                      <a:pt x="737491" y="12180"/>
                      <a:pt x="737491" y="27204"/>
                    </a:cubicBezTo>
                    <a:lnTo>
                      <a:pt x="737491" y="27204"/>
                    </a:lnTo>
                    <a:cubicBezTo>
                      <a:pt x="737491" y="34420"/>
                      <a:pt x="734625" y="41339"/>
                      <a:pt x="729523" y="46441"/>
                    </a:cubicBezTo>
                    <a:cubicBezTo>
                      <a:pt x="724422" y="51543"/>
                      <a:pt x="717502" y="54409"/>
                      <a:pt x="710287" y="54409"/>
                    </a:cubicBezTo>
                    <a:lnTo>
                      <a:pt x="27204" y="54409"/>
                    </a:lnTo>
                    <a:cubicBezTo>
                      <a:pt x="19989" y="54409"/>
                      <a:pt x="13070" y="51543"/>
                      <a:pt x="7968" y="46441"/>
                    </a:cubicBezTo>
                    <a:cubicBezTo>
                      <a:pt x="2866" y="41339"/>
                      <a:pt x="0" y="34420"/>
                      <a:pt x="0" y="27204"/>
                    </a:cubicBezTo>
                    <a:lnTo>
                      <a:pt x="0" y="27204"/>
                    </a:lnTo>
                    <a:cubicBezTo>
                      <a:pt x="0" y="19989"/>
                      <a:pt x="2866" y="13070"/>
                      <a:pt x="7968" y="7968"/>
                    </a:cubicBezTo>
                    <a:cubicBezTo>
                      <a:pt x="13070" y="2866"/>
                      <a:pt x="19989" y="0"/>
                      <a:pt x="27204" y="0"/>
                    </a:cubicBezTo>
                    <a:close/>
                  </a:path>
                </a:pathLst>
              </a:custGeom>
              <a:solidFill>
                <a:srgbClr val="303F9F"/>
              </a:solidFill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0" y="-38100"/>
                <a:ext cx="737491" cy="925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45" name="TextBox 45"/>
            <p:cNvSpPr txBox="1"/>
            <p:nvPr/>
          </p:nvSpPr>
          <p:spPr>
            <a:xfrm>
              <a:off x="451835" y="5322927"/>
              <a:ext cx="2359631" cy="635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7"/>
                </a:lnSpc>
              </a:pPr>
              <a:r>
                <a:rPr lang="en-US" sz="1573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Coordinate Mapping Module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51772" y="6275752"/>
              <a:ext cx="2759758" cy="1270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7"/>
                </a:lnSpc>
              </a:pPr>
              <a:r>
                <a:rPr lang="en-US" sz="157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Convert chess coordinates into robotic arm coordinates</a:t>
              </a:r>
            </a:p>
          </p:txBody>
        </p:sp>
        <p:grpSp>
          <p:nvGrpSpPr>
            <p:cNvPr id="47" name="Group 47"/>
            <p:cNvGrpSpPr/>
            <p:nvPr/>
          </p:nvGrpSpPr>
          <p:grpSpPr>
            <a:xfrm rot="-5400000">
              <a:off x="132960" y="4447306"/>
              <a:ext cx="820641" cy="735437"/>
              <a:chOff x="0" y="0"/>
              <a:chExt cx="812800" cy="728410"/>
            </a:xfrm>
          </p:grpSpPr>
          <p:sp>
            <p:nvSpPr>
              <p:cNvPr id="48" name="Freeform 4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0" y="0"/>
                <a:ext cx="812800" cy="72841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28410">
                    <a:moveTo>
                      <a:pt x="406400" y="0"/>
                    </a:moveTo>
                    <a:cubicBezTo>
                      <a:pt x="181951" y="0"/>
                      <a:pt x="0" y="163060"/>
                      <a:pt x="0" y="364205"/>
                    </a:cubicBezTo>
                    <a:cubicBezTo>
                      <a:pt x="0" y="565350"/>
                      <a:pt x="181951" y="728410"/>
                      <a:pt x="406400" y="728410"/>
                    </a:cubicBezTo>
                    <a:cubicBezTo>
                      <a:pt x="630849" y="728410"/>
                      <a:pt x="812800" y="565350"/>
                      <a:pt x="812800" y="364205"/>
                    </a:cubicBezTo>
                    <a:cubicBezTo>
                      <a:pt x="812800" y="163060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sq">
                <a:solidFill>
                  <a:srgbClr val="303F9F"/>
                </a:solidFill>
                <a:prstDash val="solid"/>
                <a:miter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76200" y="39713"/>
                <a:ext cx="660400" cy="620408"/>
              </a:xfrm>
              <a:prstGeom prst="rect">
                <a:avLst/>
              </a:prstGeom>
            </p:spPr>
            <p:txBody>
              <a:bodyPr lIns="110458" tIns="110458" rIns="110458" bIns="110458" rtlCol="0" anchor="ctr"/>
              <a:lstStyle/>
              <a:p>
                <a:pPr algn="ctr">
                  <a:lnSpc>
                    <a:spcPts val="19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50" name="TextBox 50"/>
            <p:cNvSpPr txBox="1"/>
            <p:nvPr/>
          </p:nvSpPr>
          <p:spPr>
            <a:xfrm>
              <a:off x="175562" y="4586848"/>
              <a:ext cx="735437" cy="4182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4</a:t>
              </a:r>
            </a:p>
          </p:txBody>
        </p:sp>
        <p:grpSp>
          <p:nvGrpSpPr>
            <p:cNvPr id="51" name="Group 51"/>
            <p:cNvGrpSpPr/>
            <p:nvPr/>
          </p:nvGrpSpPr>
          <p:grpSpPr>
            <a:xfrm>
              <a:off x="3685038" y="4950377"/>
              <a:ext cx="3020881" cy="3526502"/>
              <a:chOff x="0" y="0"/>
              <a:chExt cx="620269" cy="724087"/>
            </a:xfrm>
          </p:grpSpPr>
          <p:sp>
            <p:nvSpPr>
              <p:cNvPr id="52" name="Freeform 5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0" y="0"/>
                <a:ext cx="620269" cy="724087"/>
              </a:xfrm>
              <a:custGeom>
                <a:avLst/>
                <a:gdLst/>
                <a:ahLst/>
                <a:cxnLst/>
                <a:rect l="l" t="t" r="r" b="b"/>
                <a:pathLst>
                  <a:path w="620269" h="724087">
                    <a:moveTo>
                      <a:pt x="206868" y="705018"/>
                    </a:moveTo>
                    <a:cubicBezTo>
                      <a:pt x="238668" y="716532"/>
                      <a:pt x="274820" y="724087"/>
                      <a:pt x="310302" y="724087"/>
                    </a:cubicBezTo>
                    <a:cubicBezTo>
                      <a:pt x="345785" y="724087"/>
                      <a:pt x="379928" y="717610"/>
                      <a:pt x="411392" y="706096"/>
                    </a:cubicBezTo>
                    <a:cubicBezTo>
                      <a:pt x="412063" y="705737"/>
                      <a:pt x="412732" y="705737"/>
                      <a:pt x="413401" y="705377"/>
                    </a:cubicBezTo>
                    <a:cubicBezTo>
                      <a:pt x="531564" y="659322"/>
                      <a:pt x="618596" y="537708"/>
                      <a:pt x="620269" y="397556"/>
                    </a:cubicBezTo>
                    <a:lnTo>
                      <a:pt x="620269" y="0"/>
                    </a:lnTo>
                    <a:lnTo>
                      <a:pt x="0" y="0"/>
                    </a:lnTo>
                    <a:lnTo>
                      <a:pt x="0" y="397260"/>
                    </a:lnTo>
                    <a:cubicBezTo>
                      <a:pt x="1674" y="538427"/>
                      <a:pt x="87367" y="660042"/>
                      <a:pt x="206868" y="705018"/>
                    </a:cubicBezTo>
                    <a:close/>
                  </a:path>
                </a:pathLst>
              </a:custGeom>
              <a:solidFill>
                <a:srgbClr val="E5E5E5"/>
              </a:solidFill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0" y="38100"/>
                <a:ext cx="620269" cy="5589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439"/>
                  </a:lnSpc>
                </a:pPr>
                <a:endParaRPr/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3563828" y="4709625"/>
              <a:ext cx="3263301" cy="240752"/>
              <a:chOff x="0" y="0"/>
              <a:chExt cx="737491" cy="54409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737491" cy="54409"/>
              </a:xfrm>
              <a:custGeom>
                <a:avLst/>
                <a:gdLst/>
                <a:ahLst/>
                <a:cxnLst/>
                <a:rect l="l" t="t" r="r" b="b"/>
                <a:pathLst>
                  <a:path w="737491" h="54409">
                    <a:moveTo>
                      <a:pt x="27204" y="0"/>
                    </a:moveTo>
                    <a:lnTo>
                      <a:pt x="710287" y="0"/>
                    </a:lnTo>
                    <a:cubicBezTo>
                      <a:pt x="725312" y="0"/>
                      <a:pt x="737491" y="12180"/>
                      <a:pt x="737491" y="27204"/>
                    </a:cubicBezTo>
                    <a:lnTo>
                      <a:pt x="737491" y="27204"/>
                    </a:lnTo>
                    <a:cubicBezTo>
                      <a:pt x="737491" y="34420"/>
                      <a:pt x="734625" y="41339"/>
                      <a:pt x="729523" y="46441"/>
                    </a:cubicBezTo>
                    <a:cubicBezTo>
                      <a:pt x="724422" y="51543"/>
                      <a:pt x="717502" y="54409"/>
                      <a:pt x="710287" y="54409"/>
                    </a:cubicBezTo>
                    <a:lnTo>
                      <a:pt x="27204" y="54409"/>
                    </a:lnTo>
                    <a:cubicBezTo>
                      <a:pt x="19989" y="54409"/>
                      <a:pt x="13070" y="51543"/>
                      <a:pt x="7968" y="46441"/>
                    </a:cubicBezTo>
                    <a:cubicBezTo>
                      <a:pt x="2866" y="41339"/>
                      <a:pt x="0" y="34420"/>
                      <a:pt x="0" y="27204"/>
                    </a:cubicBezTo>
                    <a:lnTo>
                      <a:pt x="0" y="27204"/>
                    </a:lnTo>
                    <a:cubicBezTo>
                      <a:pt x="0" y="19989"/>
                      <a:pt x="2866" y="13070"/>
                      <a:pt x="7968" y="7968"/>
                    </a:cubicBezTo>
                    <a:cubicBezTo>
                      <a:pt x="13070" y="2866"/>
                      <a:pt x="19989" y="0"/>
                      <a:pt x="27204" y="0"/>
                    </a:cubicBezTo>
                    <a:close/>
                  </a:path>
                </a:pathLst>
              </a:custGeom>
              <a:solidFill>
                <a:srgbClr val="303F9F"/>
              </a:solidFill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0" y="-38100"/>
                <a:ext cx="737491" cy="925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57" name="TextBox 57"/>
            <p:cNvSpPr txBox="1"/>
            <p:nvPr/>
          </p:nvSpPr>
          <p:spPr>
            <a:xfrm>
              <a:off x="4139212" y="5322927"/>
              <a:ext cx="2112533" cy="635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7"/>
                </a:lnSpc>
              </a:pPr>
              <a:r>
                <a:rPr lang="en-US" sz="1573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Robotic Arm Control Module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935242" y="6275752"/>
              <a:ext cx="2520474" cy="635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7"/>
                </a:lnSpc>
              </a:pPr>
              <a:r>
                <a:rPr lang="en-US" sz="157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Execute pick-and-place operations</a:t>
              </a:r>
            </a:p>
          </p:txBody>
        </p:sp>
        <p:grpSp>
          <p:nvGrpSpPr>
            <p:cNvPr id="59" name="Group 59"/>
            <p:cNvGrpSpPr/>
            <p:nvPr/>
          </p:nvGrpSpPr>
          <p:grpSpPr>
            <a:xfrm rot="-5400000">
              <a:off x="3696788" y="4447306"/>
              <a:ext cx="820641" cy="735437"/>
              <a:chOff x="0" y="0"/>
              <a:chExt cx="812800" cy="728410"/>
            </a:xfrm>
          </p:grpSpPr>
          <p:sp>
            <p:nvSpPr>
              <p:cNvPr id="60" name="Freeform 6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0" y="0"/>
                <a:ext cx="812800" cy="72841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28410">
                    <a:moveTo>
                      <a:pt x="406400" y="0"/>
                    </a:moveTo>
                    <a:cubicBezTo>
                      <a:pt x="181951" y="0"/>
                      <a:pt x="0" y="163060"/>
                      <a:pt x="0" y="364205"/>
                    </a:cubicBezTo>
                    <a:cubicBezTo>
                      <a:pt x="0" y="565350"/>
                      <a:pt x="181951" y="728410"/>
                      <a:pt x="406400" y="728410"/>
                    </a:cubicBezTo>
                    <a:cubicBezTo>
                      <a:pt x="630849" y="728410"/>
                      <a:pt x="812800" y="565350"/>
                      <a:pt x="812800" y="364205"/>
                    </a:cubicBezTo>
                    <a:cubicBezTo>
                      <a:pt x="812800" y="163060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sq">
                <a:solidFill>
                  <a:srgbClr val="303F9F"/>
                </a:solidFill>
                <a:prstDash val="solid"/>
                <a:miter/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76200" y="39713"/>
                <a:ext cx="660400" cy="620408"/>
              </a:xfrm>
              <a:prstGeom prst="rect">
                <a:avLst/>
              </a:prstGeom>
            </p:spPr>
            <p:txBody>
              <a:bodyPr lIns="110458" tIns="110458" rIns="110458" bIns="110458" rtlCol="0" anchor="ctr"/>
              <a:lstStyle/>
              <a:p>
                <a:pPr algn="ctr">
                  <a:lnSpc>
                    <a:spcPts val="19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2" name="TextBox 62"/>
            <p:cNvSpPr txBox="1"/>
            <p:nvPr/>
          </p:nvSpPr>
          <p:spPr>
            <a:xfrm>
              <a:off x="3739390" y="4586848"/>
              <a:ext cx="735437" cy="4182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5</a:t>
              </a:r>
            </a:p>
          </p:txBody>
        </p:sp>
        <p:grpSp>
          <p:nvGrpSpPr>
            <p:cNvPr id="63" name="Group 63"/>
            <p:cNvGrpSpPr/>
            <p:nvPr/>
          </p:nvGrpSpPr>
          <p:grpSpPr>
            <a:xfrm>
              <a:off x="7248866" y="4950377"/>
              <a:ext cx="3020881" cy="3526502"/>
              <a:chOff x="0" y="0"/>
              <a:chExt cx="620269" cy="724087"/>
            </a:xfrm>
          </p:grpSpPr>
          <p:sp>
            <p:nvSpPr>
              <p:cNvPr id="64" name="Freeform 6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0" y="0"/>
                <a:ext cx="620269" cy="724087"/>
              </a:xfrm>
              <a:custGeom>
                <a:avLst/>
                <a:gdLst/>
                <a:ahLst/>
                <a:cxnLst/>
                <a:rect l="l" t="t" r="r" b="b"/>
                <a:pathLst>
                  <a:path w="620269" h="724087">
                    <a:moveTo>
                      <a:pt x="206868" y="705018"/>
                    </a:moveTo>
                    <a:cubicBezTo>
                      <a:pt x="238668" y="716532"/>
                      <a:pt x="274820" y="724087"/>
                      <a:pt x="310302" y="724087"/>
                    </a:cubicBezTo>
                    <a:cubicBezTo>
                      <a:pt x="345785" y="724087"/>
                      <a:pt x="379928" y="717610"/>
                      <a:pt x="411392" y="706096"/>
                    </a:cubicBezTo>
                    <a:cubicBezTo>
                      <a:pt x="412063" y="705737"/>
                      <a:pt x="412732" y="705737"/>
                      <a:pt x="413401" y="705377"/>
                    </a:cubicBezTo>
                    <a:cubicBezTo>
                      <a:pt x="531564" y="659322"/>
                      <a:pt x="618596" y="537708"/>
                      <a:pt x="620269" y="397556"/>
                    </a:cubicBezTo>
                    <a:lnTo>
                      <a:pt x="620269" y="0"/>
                    </a:lnTo>
                    <a:lnTo>
                      <a:pt x="0" y="0"/>
                    </a:lnTo>
                    <a:lnTo>
                      <a:pt x="0" y="397260"/>
                    </a:lnTo>
                    <a:cubicBezTo>
                      <a:pt x="1674" y="538427"/>
                      <a:pt x="87367" y="660042"/>
                      <a:pt x="206868" y="705018"/>
                    </a:cubicBezTo>
                    <a:close/>
                  </a:path>
                </a:pathLst>
              </a:custGeom>
              <a:solidFill>
                <a:srgbClr val="E5E5E5"/>
              </a:solidFill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0" y="38100"/>
                <a:ext cx="620269" cy="5589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439"/>
                  </a:lnSpc>
                </a:pPr>
                <a:endParaRPr/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7127656" y="4709625"/>
              <a:ext cx="3263301" cy="240752"/>
              <a:chOff x="0" y="0"/>
              <a:chExt cx="737491" cy="54409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0" y="0"/>
                <a:ext cx="737491" cy="54409"/>
              </a:xfrm>
              <a:custGeom>
                <a:avLst/>
                <a:gdLst/>
                <a:ahLst/>
                <a:cxnLst/>
                <a:rect l="l" t="t" r="r" b="b"/>
                <a:pathLst>
                  <a:path w="737491" h="54409">
                    <a:moveTo>
                      <a:pt x="27204" y="0"/>
                    </a:moveTo>
                    <a:lnTo>
                      <a:pt x="710287" y="0"/>
                    </a:lnTo>
                    <a:cubicBezTo>
                      <a:pt x="725312" y="0"/>
                      <a:pt x="737491" y="12180"/>
                      <a:pt x="737491" y="27204"/>
                    </a:cubicBezTo>
                    <a:lnTo>
                      <a:pt x="737491" y="27204"/>
                    </a:lnTo>
                    <a:cubicBezTo>
                      <a:pt x="737491" y="34420"/>
                      <a:pt x="734625" y="41339"/>
                      <a:pt x="729523" y="46441"/>
                    </a:cubicBezTo>
                    <a:cubicBezTo>
                      <a:pt x="724422" y="51543"/>
                      <a:pt x="717502" y="54409"/>
                      <a:pt x="710287" y="54409"/>
                    </a:cubicBezTo>
                    <a:lnTo>
                      <a:pt x="27204" y="54409"/>
                    </a:lnTo>
                    <a:cubicBezTo>
                      <a:pt x="19989" y="54409"/>
                      <a:pt x="13070" y="51543"/>
                      <a:pt x="7968" y="46441"/>
                    </a:cubicBezTo>
                    <a:cubicBezTo>
                      <a:pt x="2866" y="41339"/>
                      <a:pt x="0" y="34420"/>
                      <a:pt x="0" y="27204"/>
                    </a:cubicBezTo>
                    <a:lnTo>
                      <a:pt x="0" y="27204"/>
                    </a:lnTo>
                    <a:cubicBezTo>
                      <a:pt x="0" y="19989"/>
                      <a:pt x="2866" y="13070"/>
                      <a:pt x="7968" y="7968"/>
                    </a:cubicBezTo>
                    <a:cubicBezTo>
                      <a:pt x="13070" y="2866"/>
                      <a:pt x="19989" y="0"/>
                      <a:pt x="27204" y="0"/>
                    </a:cubicBezTo>
                    <a:close/>
                  </a:path>
                </a:pathLst>
              </a:custGeom>
              <a:solidFill>
                <a:srgbClr val="303F9F"/>
              </a:solidFill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0" y="-38100"/>
                <a:ext cx="737491" cy="925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9" name="TextBox 69"/>
            <p:cNvSpPr txBox="1"/>
            <p:nvPr/>
          </p:nvSpPr>
          <p:spPr>
            <a:xfrm>
              <a:off x="7403274" y="5322927"/>
              <a:ext cx="2776273" cy="635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7"/>
                </a:lnSpc>
              </a:pPr>
              <a:r>
                <a:rPr lang="en-US" sz="1573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Game Management Module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499070" y="6275752"/>
              <a:ext cx="2520474" cy="952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7"/>
                </a:lnSpc>
              </a:pPr>
              <a:r>
                <a:rPr lang="en-US" sz="157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Maintain game history and board state</a:t>
              </a:r>
            </a:p>
          </p:txBody>
        </p:sp>
        <p:grpSp>
          <p:nvGrpSpPr>
            <p:cNvPr id="71" name="Group 71"/>
            <p:cNvGrpSpPr/>
            <p:nvPr/>
          </p:nvGrpSpPr>
          <p:grpSpPr>
            <a:xfrm rot="-5400000">
              <a:off x="7260616" y="4447306"/>
              <a:ext cx="820641" cy="735437"/>
              <a:chOff x="0" y="0"/>
              <a:chExt cx="812800" cy="728410"/>
            </a:xfrm>
          </p:grpSpPr>
          <p:sp>
            <p:nvSpPr>
              <p:cNvPr id="72" name="Freeform 7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0" y="0"/>
                <a:ext cx="812800" cy="72841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28410">
                    <a:moveTo>
                      <a:pt x="406400" y="0"/>
                    </a:moveTo>
                    <a:cubicBezTo>
                      <a:pt x="181951" y="0"/>
                      <a:pt x="0" y="163060"/>
                      <a:pt x="0" y="364205"/>
                    </a:cubicBezTo>
                    <a:cubicBezTo>
                      <a:pt x="0" y="565350"/>
                      <a:pt x="181951" y="728410"/>
                      <a:pt x="406400" y="728410"/>
                    </a:cubicBezTo>
                    <a:cubicBezTo>
                      <a:pt x="630849" y="728410"/>
                      <a:pt x="812800" y="565350"/>
                      <a:pt x="812800" y="364205"/>
                    </a:cubicBezTo>
                    <a:cubicBezTo>
                      <a:pt x="812800" y="163060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sq">
                <a:solidFill>
                  <a:srgbClr val="303F9F"/>
                </a:solidFill>
                <a:prstDash val="solid"/>
                <a:miter/>
              </a:ln>
            </p:spPr>
          </p:sp>
          <p:sp>
            <p:nvSpPr>
              <p:cNvPr id="73" name="TextBox 73"/>
              <p:cNvSpPr txBox="1"/>
              <p:nvPr/>
            </p:nvSpPr>
            <p:spPr>
              <a:xfrm>
                <a:off x="76200" y="39713"/>
                <a:ext cx="660400" cy="620408"/>
              </a:xfrm>
              <a:prstGeom prst="rect">
                <a:avLst/>
              </a:prstGeom>
            </p:spPr>
            <p:txBody>
              <a:bodyPr lIns="110458" tIns="110458" rIns="110458" bIns="110458" rtlCol="0" anchor="ctr"/>
              <a:lstStyle/>
              <a:p>
                <a:pPr algn="ctr">
                  <a:lnSpc>
                    <a:spcPts val="19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74" name="TextBox 74"/>
            <p:cNvSpPr txBox="1"/>
            <p:nvPr/>
          </p:nvSpPr>
          <p:spPr>
            <a:xfrm>
              <a:off x="7303218" y="4586848"/>
              <a:ext cx="735437" cy="4182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6</a:t>
              </a:r>
            </a:p>
          </p:txBody>
        </p:sp>
      </p:grpSp>
      <p:sp>
        <p:nvSpPr>
          <p:cNvPr id="75" name="Freeform 75"/>
          <p:cNvSpPr/>
          <p:nvPr/>
        </p:nvSpPr>
        <p:spPr>
          <a:xfrm flipH="1" flipV="1">
            <a:off x="16607031" y="7599655"/>
            <a:ext cx="1821356" cy="2862132"/>
          </a:xfrm>
          <a:custGeom>
            <a:avLst/>
            <a:gdLst/>
            <a:ahLst/>
            <a:cxnLst/>
            <a:rect l="l" t="t" r="r" b="b"/>
            <a:pathLst>
              <a:path w="1821356" h="2862132">
                <a:moveTo>
                  <a:pt x="1821356" y="2862131"/>
                </a:moveTo>
                <a:lnTo>
                  <a:pt x="0" y="2862131"/>
                </a:lnTo>
                <a:lnTo>
                  <a:pt x="0" y="0"/>
                </a:lnTo>
                <a:lnTo>
                  <a:pt x="1821356" y="0"/>
                </a:lnTo>
                <a:lnTo>
                  <a:pt x="1821356" y="286213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6" name="Freeform 76"/>
          <p:cNvSpPr/>
          <p:nvPr/>
        </p:nvSpPr>
        <p:spPr>
          <a:xfrm rot="2471991">
            <a:off x="800916" y="305438"/>
            <a:ext cx="455567" cy="654209"/>
          </a:xfrm>
          <a:custGeom>
            <a:avLst/>
            <a:gdLst/>
            <a:ahLst/>
            <a:cxnLst/>
            <a:rect l="l" t="t" r="r" b="b"/>
            <a:pathLst>
              <a:path w="455567" h="654209">
                <a:moveTo>
                  <a:pt x="0" y="0"/>
                </a:moveTo>
                <a:lnTo>
                  <a:pt x="455568" y="0"/>
                </a:lnTo>
                <a:lnTo>
                  <a:pt x="455568" y="654209"/>
                </a:lnTo>
                <a:lnTo>
                  <a:pt x="0" y="6542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7" name="Group 77"/>
          <p:cNvGrpSpPr/>
          <p:nvPr/>
        </p:nvGrpSpPr>
        <p:grpSpPr>
          <a:xfrm>
            <a:off x="283958" y="557222"/>
            <a:ext cx="17233752" cy="887403"/>
            <a:chOff x="0" y="0"/>
            <a:chExt cx="22978335" cy="1183204"/>
          </a:xfrm>
        </p:grpSpPr>
        <p:sp>
          <p:nvSpPr>
            <p:cNvPr id="78" name="TextBox 78"/>
            <p:cNvSpPr txBox="1"/>
            <p:nvPr/>
          </p:nvSpPr>
          <p:spPr>
            <a:xfrm>
              <a:off x="0" y="-104775"/>
              <a:ext cx="11093327" cy="12139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699"/>
                </a:lnSpc>
              </a:pPr>
              <a:r>
                <a:rPr lang="en-US" sz="5499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Modules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885008" y="-30705"/>
              <a:ext cx="11093327" cy="12139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699"/>
                </a:lnSpc>
              </a:pPr>
              <a:r>
                <a:rPr lang="en-US" sz="5499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System Functionality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10154510" y="1839972"/>
            <a:ext cx="5625462" cy="7799328"/>
            <a:chOff x="0" y="0"/>
            <a:chExt cx="7500617" cy="10399103"/>
          </a:xfrm>
        </p:grpSpPr>
        <p:grpSp>
          <p:nvGrpSpPr>
            <p:cNvPr id="81" name="Group 81"/>
            <p:cNvGrpSpPr/>
            <p:nvPr/>
          </p:nvGrpSpPr>
          <p:grpSpPr>
            <a:xfrm rot="-5400000">
              <a:off x="3391290" y="-2909133"/>
              <a:ext cx="1166649" cy="6984915"/>
              <a:chOff x="0" y="0"/>
              <a:chExt cx="245973" cy="1472680"/>
            </a:xfrm>
          </p:grpSpPr>
          <p:sp>
            <p:nvSpPr>
              <p:cNvPr id="82" name="Freeform 8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0" y="0"/>
                <a:ext cx="245973" cy="1472680"/>
              </a:xfrm>
              <a:custGeom>
                <a:avLst/>
                <a:gdLst/>
                <a:ahLst/>
                <a:cxnLst/>
                <a:rect l="l" t="t" r="r" b="b"/>
                <a:pathLst>
                  <a:path w="245973" h="1472680">
                    <a:moveTo>
                      <a:pt x="82035" y="1453611"/>
                    </a:moveTo>
                    <a:cubicBezTo>
                      <a:pt x="94646" y="1465125"/>
                      <a:pt x="108982" y="1472680"/>
                      <a:pt x="123053" y="1472680"/>
                    </a:cubicBezTo>
                    <a:cubicBezTo>
                      <a:pt x="137124" y="1472680"/>
                      <a:pt x="150664" y="1466203"/>
                      <a:pt x="163141" y="1454689"/>
                    </a:cubicBezTo>
                    <a:cubicBezTo>
                      <a:pt x="163407" y="1454329"/>
                      <a:pt x="163672" y="1454329"/>
                      <a:pt x="163938" y="1453970"/>
                    </a:cubicBezTo>
                    <a:cubicBezTo>
                      <a:pt x="210796" y="1407915"/>
                      <a:pt x="245309" y="1286301"/>
                      <a:pt x="245973" y="1129520"/>
                    </a:cubicBezTo>
                    <a:lnTo>
                      <a:pt x="245973" y="0"/>
                    </a:lnTo>
                    <a:lnTo>
                      <a:pt x="0" y="0"/>
                    </a:lnTo>
                    <a:lnTo>
                      <a:pt x="0" y="1128682"/>
                    </a:lnTo>
                    <a:cubicBezTo>
                      <a:pt x="664" y="1287020"/>
                      <a:pt x="34646" y="1408635"/>
                      <a:pt x="82035" y="1453611"/>
                    </a:cubicBezTo>
                    <a:close/>
                  </a:path>
                </a:pathLst>
              </a:custGeom>
              <a:solidFill>
                <a:srgbClr val="E5E5E5"/>
              </a:solidFill>
            </p:spPr>
          </p:sp>
          <p:sp>
            <p:nvSpPr>
              <p:cNvPr id="83" name="TextBox 83"/>
              <p:cNvSpPr txBox="1"/>
              <p:nvPr/>
            </p:nvSpPr>
            <p:spPr>
              <a:xfrm>
                <a:off x="0" y="38100"/>
                <a:ext cx="245973" cy="1307580"/>
              </a:xfrm>
              <a:prstGeom prst="rect">
                <a:avLst/>
              </a:prstGeom>
            </p:spPr>
            <p:txBody>
              <a:bodyPr lIns="44402" tIns="44402" rIns="44402" bIns="44402" rtlCol="0" anchor="ctr"/>
              <a:lstStyle/>
              <a:p>
                <a:pPr algn="ctr">
                  <a:lnSpc>
                    <a:spcPts val="1439"/>
                  </a:lnSpc>
                </a:pPr>
                <a:endParaRPr/>
              </a:p>
            </p:txBody>
          </p:sp>
        </p:grpSp>
        <p:grpSp>
          <p:nvGrpSpPr>
            <p:cNvPr id="84" name="Group 84"/>
            <p:cNvGrpSpPr/>
            <p:nvPr/>
          </p:nvGrpSpPr>
          <p:grpSpPr>
            <a:xfrm rot="-5400000">
              <a:off x="3391290" y="-1612055"/>
              <a:ext cx="1166649" cy="6984915"/>
              <a:chOff x="0" y="0"/>
              <a:chExt cx="245973" cy="1472680"/>
            </a:xfrm>
          </p:grpSpPr>
          <p:sp>
            <p:nvSpPr>
              <p:cNvPr id="85" name="Freeform 8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0" y="0"/>
                <a:ext cx="245973" cy="1472680"/>
              </a:xfrm>
              <a:custGeom>
                <a:avLst/>
                <a:gdLst/>
                <a:ahLst/>
                <a:cxnLst/>
                <a:rect l="l" t="t" r="r" b="b"/>
                <a:pathLst>
                  <a:path w="245973" h="1472680">
                    <a:moveTo>
                      <a:pt x="82035" y="1453611"/>
                    </a:moveTo>
                    <a:cubicBezTo>
                      <a:pt x="94646" y="1465125"/>
                      <a:pt x="108982" y="1472680"/>
                      <a:pt x="123053" y="1472680"/>
                    </a:cubicBezTo>
                    <a:cubicBezTo>
                      <a:pt x="137124" y="1472680"/>
                      <a:pt x="150664" y="1466203"/>
                      <a:pt x="163141" y="1454689"/>
                    </a:cubicBezTo>
                    <a:cubicBezTo>
                      <a:pt x="163407" y="1454329"/>
                      <a:pt x="163672" y="1454329"/>
                      <a:pt x="163938" y="1453970"/>
                    </a:cubicBezTo>
                    <a:cubicBezTo>
                      <a:pt x="210796" y="1407915"/>
                      <a:pt x="245309" y="1286301"/>
                      <a:pt x="245973" y="1129520"/>
                    </a:cubicBezTo>
                    <a:lnTo>
                      <a:pt x="245973" y="0"/>
                    </a:lnTo>
                    <a:lnTo>
                      <a:pt x="0" y="0"/>
                    </a:lnTo>
                    <a:lnTo>
                      <a:pt x="0" y="1128682"/>
                    </a:lnTo>
                    <a:cubicBezTo>
                      <a:pt x="664" y="1287020"/>
                      <a:pt x="34646" y="1408635"/>
                      <a:pt x="82035" y="1453611"/>
                    </a:cubicBezTo>
                    <a:close/>
                  </a:path>
                </a:pathLst>
              </a:custGeom>
              <a:solidFill>
                <a:srgbClr val="E5E5E5"/>
              </a:solidFill>
            </p:spPr>
          </p:sp>
          <p:sp>
            <p:nvSpPr>
              <p:cNvPr id="86" name="TextBox 86"/>
              <p:cNvSpPr txBox="1"/>
              <p:nvPr/>
            </p:nvSpPr>
            <p:spPr>
              <a:xfrm>
                <a:off x="0" y="38100"/>
                <a:ext cx="245973" cy="1307580"/>
              </a:xfrm>
              <a:prstGeom prst="rect">
                <a:avLst/>
              </a:prstGeom>
            </p:spPr>
            <p:txBody>
              <a:bodyPr lIns="44402" tIns="44402" rIns="44402" bIns="44402" rtlCol="0" anchor="ctr"/>
              <a:lstStyle/>
              <a:p>
                <a:pPr algn="ctr">
                  <a:lnSpc>
                    <a:spcPts val="1439"/>
                  </a:lnSpc>
                </a:pPr>
                <a:endParaRPr/>
              </a:p>
            </p:txBody>
          </p:sp>
        </p:grpSp>
        <p:grpSp>
          <p:nvGrpSpPr>
            <p:cNvPr id="87" name="Group 87"/>
            <p:cNvGrpSpPr/>
            <p:nvPr/>
          </p:nvGrpSpPr>
          <p:grpSpPr>
            <a:xfrm rot="-5400000">
              <a:off x="3391290" y="-297421"/>
              <a:ext cx="1166649" cy="6984915"/>
              <a:chOff x="0" y="0"/>
              <a:chExt cx="245973" cy="1472680"/>
            </a:xfrm>
          </p:grpSpPr>
          <p:sp>
            <p:nvSpPr>
              <p:cNvPr id="88" name="Freeform 8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0" y="0"/>
                <a:ext cx="245973" cy="1472680"/>
              </a:xfrm>
              <a:custGeom>
                <a:avLst/>
                <a:gdLst/>
                <a:ahLst/>
                <a:cxnLst/>
                <a:rect l="l" t="t" r="r" b="b"/>
                <a:pathLst>
                  <a:path w="245973" h="1472680">
                    <a:moveTo>
                      <a:pt x="82035" y="1453611"/>
                    </a:moveTo>
                    <a:cubicBezTo>
                      <a:pt x="94646" y="1465125"/>
                      <a:pt x="108982" y="1472680"/>
                      <a:pt x="123053" y="1472680"/>
                    </a:cubicBezTo>
                    <a:cubicBezTo>
                      <a:pt x="137124" y="1472680"/>
                      <a:pt x="150664" y="1466203"/>
                      <a:pt x="163141" y="1454689"/>
                    </a:cubicBezTo>
                    <a:cubicBezTo>
                      <a:pt x="163407" y="1454329"/>
                      <a:pt x="163672" y="1454329"/>
                      <a:pt x="163938" y="1453970"/>
                    </a:cubicBezTo>
                    <a:cubicBezTo>
                      <a:pt x="210796" y="1407915"/>
                      <a:pt x="245309" y="1286301"/>
                      <a:pt x="245973" y="1129520"/>
                    </a:cubicBezTo>
                    <a:lnTo>
                      <a:pt x="245973" y="0"/>
                    </a:lnTo>
                    <a:lnTo>
                      <a:pt x="0" y="0"/>
                    </a:lnTo>
                    <a:lnTo>
                      <a:pt x="0" y="1128682"/>
                    </a:lnTo>
                    <a:cubicBezTo>
                      <a:pt x="664" y="1287020"/>
                      <a:pt x="34646" y="1408635"/>
                      <a:pt x="82035" y="1453611"/>
                    </a:cubicBezTo>
                    <a:close/>
                  </a:path>
                </a:pathLst>
              </a:custGeom>
              <a:solidFill>
                <a:srgbClr val="E5E5E5"/>
              </a:solidFill>
            </p:spPr>
          </p:sp>
          <p:sp>
            <p:nvSpPr>
              <p:cNvPr id="89" name="TextBox 89"/>
              <p:cNvSpPr txBox="1"/>
              <p:nvPr/>
            </p:nvSpPr>
            <p:spPr>
              <a:xfrm>
                <a:off x="0" y="38100"/>
                <a:ext cx="245973" cy="1307580"/>
              </a:xfrm>
              <a:prstGeom prst="rect">
                <a:avLst/>
              </a:prstGeom>
            </p:spPr>
            <p:txBody>
              <a:bodyPr lIns="44402" tIns="44402" rIns="44402" bIns="44402" rtlCol="0" anchor="ctr"/>
              <a:lstStyle/>
              <a:p>
                <a:pPr algn="ctr">
                  <a:lnSpc>
                    <a:spcPts val="1439"/>
                  </a:lnSpc>
                </a:pPr>
                <a:endParaRPr/>
              </a:p>
            </p:txBody>
          </p:sp>
        </p:grpSp>
        <p:grpSp>
          <p:nvGrpSpPr>
            <p:cNvPr id="90" name="Group 90"/>
            <p:cNvGrpSpPr/>
            <p:nvPr/>
          </p:nvGrpSpPr>
          <p:grpSpPr>
            <a:xfrm rot="-5400000">
              <a:off x="3391290" y="982101"/>
              <a:ext cx="1166649" cy="6984915"/>
              <a:chOff x="0" y="0"/>
              <a:chExt cx="245973" cy="1472680"/>
            </a:xfrm>
          </p:grpSpPr>
          <p:sp>
            <p:nvSpPr>
              <p:cNvPr id="91" name="Freeform 9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0" y="0"/>
                <a:ext cx="245973" cy="1472680"/>
              </a:xfrm>
              <a:custGeom>
                <a:avLst/>
                <a:gdLst/>
                <a:ahLst/>
                <a:cxnLst/>
                <a:rect l="l" t="t" r="r" b="b"/>
                <a:pathLst>
                  <a:path w="245973" h="1472680">
                    <a:moveTo>
                      <a:pt x="82035" y="1453611"/>
                    </a:moveTo>
                    <a:cubicBezTo>
                      <a:pt x="94646" y="1465125"/>
                      <a:pt x="108982" y="1472680"/>
                      <a:pt x="123053" y="1472680"/>
                    </a:cubicBezTo>
                    <a:cubicBezTo>
                      <a:pt x="137124" y="1472680"/>
                      <a:pt x="150664" y="1466203"/>
                      <a:pt x="163141" y="1454689"/>
                    </a:cubicBezTo>
                    <a:cubicBezTo>
                      <a:pt x="163407" y="1454329"/>
                      <a:pt x="163672" y="1454329"/>
                      <a:pt x="163938" y="1453970"/>
                    </a:cubicBezTo>
                    <a:cubicBezTo>
                      <a:pt x="210796" y="1407915"/>
                      <a:pt x="245309" y="1286301"/>
                      <a:pt x="245973" y="1129520"/>
                    </a:cubicBezTo>
                    <a:lnTo>
                      <a:pt x="245973" y="0"/>
                    </a:lnTo>
                    <a:lnTo>
                      <a:pt x="0" y="0"/>
                    </a:lnTo>
                    <a:lnTo>
                      <a:pt x="0" y="1128682"/>
                    </a:lnTo>
                    <a:cubicBezTo>
                      <a:pt x="664" y="1287020"/>
                      <a:pt x="34646" y="1408635"/>
                      <a:pt x="82035" y="1453611"/>
                    </a:cubicBezTo>
                    <a:close/>
                  </a:path>
                </a:pathLst>
              </a:custGeom>
              <a:solidFill>
                <a:srgbClr val="E5E5E5"/>
              </a:solidFill>
            </p:spPr>
          </p:sp>
          <p:sp>
            <p:nvSpPr>
              <p:cNvPr id="92" name="TextBox 92"/>
              <p:cNvSpPr txBox="1"/>
              <p:nvPr/>
            </p:nvSpPr>
            <p:spPr>
              <a:xfrm>
                <a:off x="0" y="38100"/>
                <a:ext cx="245973" cy="1307580"/>
              </a:xfrm>
              <a:prstGeom prst="rect">
                <a:avLst/>
              </a:prstGeom>
            </p:spPr>
            <p:txBody>
              <a:bodyPr lIns="44402" tIns="44402" rIns="44402" bIns="44402" rtlCol="0" anchor="ctr"/>
              <a:lstStyle/>
              <a:p>
                <a:pPr algn="ctr">
                  <a:lnSpc>
                    <a:spcPts val="1439"/>
                  </a:lnSpc>
                </a:pPr>
                <a:endParaRPr/>
              </a:p>
            </p:txBody>
          </p:sp>
        </p:grpSp>
        <p:grpSp>
          <p:nvGrpSpPr>
            <p:cNvPr id="93" name="Group 93"/>
            <p:cNvGrpSpPr/>
            <p:nvPr/>
          </p:nvGrpSpPr>
          <p:grpSpPr>
            <a:xfrm rot="-5400000">
              <a:off x="3391290" y="2279179"/>
              <a:ext cx="1166649" cy="6984915"/>
              <a:chOff x="0" y="0"/>
              <a:chExt cx="245973" cy="1472680"/>
            </a:xfrm>
          </p:grpSpPr>
          <p:sp>
            <p:nvSpPr>
              <p:cNvPr id="94" name="Freeform 9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0" y="0"/>
                <a:ext cx="245973" cy="1472680"/>
              </a:xfrm>
              <a:custGeom>
                <a:avLst/>
                <a:gdLst/>
                <a:ahLst/>
                <a:cxnLst/>
                <a:rect l="l" t="t" r="r" b="b"/>
                <a:pathLst>
                  <a:path w="245973" h="1472680">
                    <a:moveTo>
                      <a:pt x="82035" y="1453611"/>
                    </a:moveTo>
                    <a:cubicBezTo>
                      <a:pt x="94646" y="1465125"/>
                      <a:pt x="108982" y="1472680"/>
                      <a:pt x="123053" y="1472680"/>
                    </a:cubicBezTo>
                    <a:cubicBezTo>
                      <a:pt x="137124" y="1472680"/>
                      <a:pt x="150664" y="1466203"/>
                      <a:pt x="163141" y="1454689"/>
                    </a:cubicBezTo>
                    <a:cubicBezTo>
                      <a:pt x="163407" y="1454329"/>
                      <a:pt x="163672" y="1454329"/>
                      <a:pt x="163938" y="1453970"/>
                    </a:cubicBezTo>
                    <a:cubicBezTo>
                      <a:pt x="210796" y="1407915"/>
                      <a:pt x="245309" y="1286301"/>
                      <a:pt x="245973" y="1129520"/>
                    </a:cubicBezTo>
                    <a:lnTo>
                      <a:pt x="245973" y="0"/>
                    </a:lnTo>
                    <a:lnTo>
                      <a:pt x="0" y="0"/>
                    </a:lnTo>
                    <a:lnTo>
                      <a:pt x="0" y="1128682"/>
                    </a:lnTo>
                    <a:cubicBezTo>
                      <a:pt x="664" y="1287020"/>
                      <a:pt x="34646" y="1408635"/>
                      <a:pt x="82035" y="1453611"/>
                    </a:cubicBezTo>
                    <a:close/>
                  </a:path>
                </a:pathLst>
              </a:custGeom>
              <a:solidFill>
                <a:srgbClr val="E5E5E5"/>
              </a:solidFill>
            </p:spPr>
          </p:sp>
          <p:sp>
            <p:nvSpPr>
              <p:cNvPr id="95" name="TextBox 95"/>
              <p:cNvSpPr txBox="1"/>
              <p:nvPr/>
            </p:nvSpPr>
            <p:spPr>
              <a:xfrm>
                <a:off x="0" y="38100"/>
                <a:ext cx="245973" cy="1307580"/>
              </a:xfrm>
              <a:prstGeom prst="rect">
                <a:avLst/>
              </a:prstGeom>
            </p:spPr>
            <p:txBody>
              <a:bodyPr lIns="44402" tIns="44402" rIns="44402" bIns="44402" rtlCol="0" anchor="ctr"/>
              <a:lstStyle/>
              <a:p>
                <a:pPr algn="ctr">
                  <a:lnSpc>
                    <a:spcPts val="1439"/>
                  </a:lnSpc>
                </a:pPr>
                <a:endParaRPr/>
              </a:p>
            </p:txBody>
          </p:sp>
        </p:grpSp>
        <p:grpSp>
          <p:nvGrpSpPr>
            <p:cNvPr id="96" name="Group 96"/>
            <p:cNvGrpSpPr/>
            <p:nvPr/>
          </p:nvGrpSpPr>
          <p:grpSpPr>
            <a:xfrm rot="-5400000">
              <a:off x="3391290" y="3576258"/>
              <a:ext cx="1166649" cy="6984915"/>
              <a:chOff x="0" y="0"/>
              <a:chExt cx="245973" cy="1472680"/>
            </a:xfrm>
          </p:grpSpPr>
          <p:sp>
            <p:nvSpPr>
              <p:cNvPr id="97" name="Freeform 9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0" y="0"/>
                <a:ext cx="245973" cy="1472680"/>
              </a:xfrm>
              <a:custGeom>
                <a:avLst/>
                <a:gdLst/>
                <a:ahLst/>
                <a:cxnLst/>
                <a:rect l="l" t="t" r="r" b="b"/>
                <a:pathLst>
                  <a:path w="245973" h="1472680">
                    <a:moveTo>
                      <a:pt x="82035" y="1453611"/>
                    </a:moveTo>
                    <a:cubicBezTo>
                      <a:pt x="94646" y="1465125"/>
                      <a:pt x="108982" y="1472680"/>
                      <a:pt x="123053" y="1472680"/>
                    </a:cubicBezTo>
                    <a:cubicBezTo>
                      <a:pt x="137124" y="1472680"/>
                      <a:pt x="150664" y="1466203"/>
                      <a:pt x="163141" y="1454689"/>
                    </a:cubicBezTo>
                    <a:cubicBezTo>
                      <a:pt x="163407" y="1454329"/>
                      <a:pt x="163672" y="1454329"/>
                      <a:pt x="163938" y="1453970"/>
                    </a:cubicBezTo>
                    <a:cubicBezTo>
                      <a:pt x="210796" y="1407915"/>
                      <a:pt x="245309" y="1286301"/>
                      <a:pt x="245973" y="1129520"/>
                    </a:cubicBezTo>
                    <a:lnTo>
                      <a:pt x="245973" y="0"/>
                    </a:lnTo>
                    <a:lnTo>
                      <a:pt x="0" y="0"/>
                    </a:lnTo>
                    <a:lnTo>
                      <a:pt x="0" y="1128682"/>
                    </a:lnTo>
                    <a:cubicBezTo>
                      <a:pt x="664" y="1287020"/>
                      <a:pt x="34646" y="1408635"/>
                      <a:pt x="82035" y="1453611"/>
                    </a:cubicBezTo>
                    <a:close/>
                  </a:path>
                </a:pathLst>
              </a:custGeom>
              <a:solidFill>
                <a:srgbClr val="E5E5E5"/>
              </a:solidFill>
            </p:spPr>
          </p:sp>
          <p:sp>
            <p:nvSpPr>
              <p:cNvPr id="98" name="TextBox 98"/>
              <p:cNvSpPr txBox="1"/>
              <p:nvPr/>
            </p:nvSpPr>
            <p:spPr>
              <a:xfrm>
                <a:off x="0" y="38100"/>
                <a:ext cx="245973" cy="1307580"/>
              </a:xfrm>
              <a:prstGeom prst="rect">
                <a:avLst/>
              </a:prstGeom>
            </p:spPr>
            <p:txBody>
              <a:bodyPr lIns="44402" tIns="44402" rIns="44402" bIns="44402" rtlCol="0" anchor="ctr"/>
              <a:lstStyle/>
              <a:p>
                <a:pPr algn="ctr">
                  <a:lnSpc>
                    <a:spcPts val="1439"/>
                  </a:lnSpc>
                </a:pPr>
                <a:endParaRPr/>
              </a:p>
            </p:txBody>
          </p:sp>
        </p:grpSp>
        <p:grpSp>
          <p:nvGrpSpPr>
            <p:cNvPr id="99" name="Group 99"/>
            <p:cNvGrpSpPr/>
            <p:nvPr/>
          </p:nvGrpSpPr>
          <p:grpSpPr>
            <a:xfrm rot="5400000">
              <a:off x="-4785007" y="5019068"/>
              <a:ext cx="10286231" cy="248096"/>
              <a:chOff x="0" y="0"/>
              <a:chExt cx="2086372" cy="50322"/>
            </a:xfrm>
          </p:grpSpPr>
          <p:sp>
            <p:nvSpPr>
              <p:cNvPr id="100" name="Freeform 10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0" y="0"/>
                <a:ext cx="2086372" cy="50322"/>
              </a:xfrm>
              <a:custGeom>
                <a:avLst/>
                <a:gdLst/>
                <a:ahLst/>
                <a:cxnLst/>
                <a:rect l="l" t="t" r="r" b="b"/>
                <a:pathLst>
                  <a:path w="2086372" h="50322">
                    <a:moveTo>
                      <a:pt x="25161" y="0"/>
                    </a:moveTo>
                    <a:lnTo>
                      <a:pt x="2061212" y="0"/>
                    </a:lnTo>
                    <a:cubicBezTo>
                      <a:pt x="2067885" y="0"/>
                      <a:pt x="2074284" y="2651"/>
                      <a:pt x="2079003" y="7369"/>
                    </a:cubicBezTo>
                    <a:cubicBezTo>
                      <a:pt x="2083722" y="12088"/>
                      <a:pt x="2086372" y="18488"/>
                      <a:pt x="2086372" y="25161"/>
                    </a:cubicBezTo>
                    <a:lnTo>
                      <a:pt x="2086372" y="25161"/>
                    </a:lnTo>
                    <a:cubicBezTo>
                      <a:pt x="2086372" y="39057"/>
                      <a:pt x="2075108" y="50322"/>
                      <a:pt x="2061212" y="50322"/>
                    </a:cubicBezTo>
                    <a:lnTo>
                      <a:pt x="25161" y="50322"/>
                    </a:lnTo>
                    <a:cubicBezTo>
                      <a:pt x="11265" y="50322"/>
                      <a:pt x="0" y="39057"/>
                      <a:pt x="0" y="25161"/>
                    </a:cubicBezTo>
                    <a:lnTo>
                      <a:pt x="0" y="25161"/>
                    </a:lnTo>
                    <a:cubicBezTo>
                      <a:pt x="0" y="11265"/>
                      <a:pt x="11265" y="0"/>
                      <a:pt x="25161" y="0"/>
                    </a:cubicBezTo>
                    <a:close/>
                  </a:path>
                </a:pathLst>
              </a:custGeom>
              <a:solidFill>
                <a:srgbClr val="303F9F"/>
              </a:solidFill>
            </p:spPr>
          </p:sp>
          <p:sp>
            <p:nvSpPr>
              <p:cNvPr id="101" name="TextBox 101"/>
              <p:cNvSpPr txBox="1"/>
              <p:nvPr/>
            </p:nvSpPr>
            <p:spPr>
              <a:xfrm>
                <a:off x="0" y="-38100"/>
                <a:ext cx="2086372" cy="884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2" name="Group 102"/>
            <p:cNvGrpSpPr/>
            <p:nvPr/>
          </p:nvGrpSpPr>
          <p:grpSpPr>
            <a:xfrm rot="-5400000">
              <a:off x="3391290" y="4873336"/>
              <a:ext cx="1166649" cy="6984915"/>
              <a:chOff x="0" y="0"/>
              <a:chExt cx="245973" cy="1472680"/>
            </a:xfrm>
          </p:grpSpPr>
          <p:sp>
            <p:nvSpPr>
              <p:cNvPr id="103" name="Freeform 10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0" y="0"/>
                <a:ext cx="245973" cy="1472680"/>
              </a:xfrm>
              <a:custGeom>
                <a:avLst/>
                <a:gdLst/>
                <a:ahLst/>
                <a:cxnLst/>
                <a:rect l="l" t="t" r="r" b="b"/>
                <a:pathLst>
                  <a:path w="245973" h="1472680">
                    <a:moveTo>
                      <a:pt x="82035" y="1453611"/>
                    </a:moveTo>
                    <a:cubicBezTo>
                      <a:pt x="94646" y="1465125"/>
                      <a:pt x="108982" y="1472680"/>
                      <a:pt x="123053" y="1472680"/>
                    </a:cubicBezTo>
                    <a:cubicBezTo>
                      <a:pt x="137124" y="1472680"/>
                      <a:pt x="150664" y="1466203"/>
                      <a:pt x="163141" y="1454689"/>
                    </a:cubicBezTo>
                    <a:cubicBezTo>
                      <a:pt x="163407" y="1454329"/>
                      <a:pt x="163672" y="1454329"/>
                      <a:pt x="163938" y="1453970"/>
                    </a:cubicBezTo>
                    <a:cubicBezTo>
                      <a:pt x="210796" y="1407915"/>
                      <a:pt x="245309" y="1286301"/>
                      <a:pt x="245973" y="1129520"/>
                    </a:cubicBezTo>
                    <a:lnTo>
                      <a:pt x="245973" y="0"/>
                    </a:lnTo>
                    <a:lnTo>
                      <a:pt x="0" y="0"/>
                    </a:lnTo>
                    <a:lnTo>
                      <a:pt x="0" y="1128682"/>
                    </a:lnTo>
                    <a:cubicBezTo>
                      <a:pt x="664" y="1287020"/>
                      <a:pt x="34646" y="1408635"/>
                      <a:pt x="82035" y="1453611"/>
                    </a:cubicBezTo>
                    <a:close/>
                  </a:path>
                </a:pathLst>
              </a:custGeom>
              <a:solidFill>
                <a:srgbClr val="E5E5E5"/>
              </a:solidFill>
            </p:spPr>
          </p:sp>
          <p:sp>
            <p:nvSpPr>
              <p:cNvPr id="104" name="TextBox 104"/>
              <p:cNvSpPr txBox="1"/>
              <p:nvPr/>
            </p:nvSpPr>
            <p:spPr>
              <a:xfrm>
                <a:off x="0" y="38100"/>
                <a:ext cx="245973" cy="1307580"/>
              </a:xfrm>
              <a:prstGeom prst="rect">
                <a:avLst/>
              </a:prstGeom>
            </p:spPr>
            <p:txBody>
              <a:bodyPr lIns="44402" tIns="44402" rIns="44402" bIns="44402" rtlCol="0" anchor="ctr"/>
              <a:lstStyle/>
              <a:p>
                <a:pPr algn="ctr">
                  <a:lnSpc>
                    <a:spcPts val="1439"/>
                  </a:lnSpc>
                </a:pPr>
                <a:endParaRPr/>
              </a:p>
            </p:txBody>
          </p:sp>
        </p:grpSp>
        <p:grpSp>
          <p:nvGrpSpPr>
            <p:cNvPr id="105" name="Group 105"/>
            <p:cNvGrpSpPr/>
            <p:nvPr/>
          </p:nvGrpSpPr>
          <p:grpSpPr>
            <a:xfrm rot="-5400000">
              <a:off x="3391290" y="6170414"/>
              <a:ext cx="1166649" cy="6984915"/>
              <a:chOff x="0" y="0"/>
              <a:chExt cx="245973" cy="1472680"/>
            </a:xfrm>
          </p:grpSpPr>
          <p:sp>
            <p:nvSpPr>
              <p:cNvPr id="106" name="Freeform 10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0" y="0"/>
                <a:ext cx="245973" cy="1472680"/>
              </a:xfrm>
              <a:custGeom>
                <a:avLst/>
                <a:gdLst/>
                <a:ahLst/>
                <a:cxnLst/>
                <a:rect l="l" t="t" r="r" b="b"/>
                <a:pathLst>
                  <a:path w="245973" h="1472680">
                    <a:moveTo>
                      <a:pt x="82035" y="1453611"/>
                    </a:moveTo>
                    <a:cubicBezTo>
                      <a:pt x="94646" y="1465125"/>
                      <a:pt x="108982" y="1472680"/>
                      <a:pt x="123053" y="1472680"/>
                    </a:cubicBezTo>
                    <a:cubicBezTo>
                      <a:pt x="137124" y="1472680"/>
                      <a:pt x="150664" y="1466203"/>
                      <a:pt x="163141" y="1454689"/>
                    </a:cubicBezTo>
                    <a:cubicBezTo>
                      <a:pt x="163407" y="1454329"/>
                      <a:pt x="163672" y="1454329"/>
                      <a:pt x="163938" y="1453970"/>
                    </a:cubicBezTo>
                    <a:cubicBezTo>
                      <a:pt x="210796" y="1407915"/>
                      <a:pt x="245309" y="1286301"/>
                      <a:pt x="245973" y="1129520"/>
                    </a:cubicBezTo>
                    <a:lnTo>
                      <a:pt x="245973" y="0"/>
                    </a:lnTo>
                    <a:lnTo>
                      <a:pt x="0" y="0"/>
                    </a:lnTo>
                    <a:lnTo>
                      <a:pt x="0" y="1128682"/>
                    </a:lnTo>
                    <a:cubicBezTo>
                      <a:pt x="664" y="1287020"/>
                      <a:pt x="34646" y="1408635"/>
                      <a:pt x="82035" y="1453611"/>
                    </a:cubicBezTo>
                    <a:close/>
                  </a:path>
                </a:pathLst>
              </a:custGeom>
              <a:solidFill>
                <a:srgbClr val="E5E5E5"/>
              </a:solidFill>
            </p:spPr>
          </p:sp>
          <p:sp>
            <p:nvSpPr>
              <p:cNvPr id="107" name="TextBox 107"/>
              <p:cNvSpPr txBox="1"/>
              <p:nvPr/>
            </p:nvSpPr>
            <p:spPr>
              <a:xfrm>
                <a:off x="0" y="38100"/>
                <a:ext cx="245973" cy="1307580"/>
              </a:xfrm>
              <a:prstGeom prst="rect">
                <a:avLst/>
              </a:prstGeom>
            </p:spPr>
            <p:txBody>
              <a:bodyPr lIns="44402" tIns="44402" rIns="44402" bIns="44402" rtlCol="0" anchor="ctr"/>
              <a:lstStyle/>
              <a:p>
                <a:pPr algn="ctr">
                  <a:lnSpc>
                    <a:spcPts val="1439"/>
                  </a:lnSpc>
                </a:pPr>
                <a:endParaRPr/>
              </a:p>
            </p:txBody>
          </p:sp>
        </p:grpSp>
        <p:grpSp>
          <p:nvGrpSpPr>
            <p:cNvPr id="108" name="Group 108"/>
            <p:cNvGrpSpPr/>
            <p:nvPr/>
          </p:nvGrpSpPr>
          <p:grpSpPr>
            <a:xfrm rot="-5400000">
              <a:off x="-41489" y="207660"/>
              <a:ext cx="799195" cy="716217"/>
              <a:chOff x="0" y="0"/>
              <a:chExt cx="812800" cy="728410"/>
            </a:xfrm>
          </p:grpSpPr>
          <p:sp>
            <p:nvSpPr>
              <p:cNvPr id="109" name="Freeform 10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0" y="0"/>
                <a:ext cx="812800" cy="72841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28410">
                    <a:moveTo>
                      <a:pt x="406400" y="0"/>
                    </a:moveTo>
                    <a:cubicBezTo>
                      <a:pt x="181951" y="0"/>
                      <a:pt x="0" y="163060"/>
                      <a:pt x="0" y="364205"/>
                    </a:cubicBezTo>
                    <a:cubicBezTo>
                      <a:pt x="0" y="565350"/>
                      <a:pt x="181951" y="728410"/>
                      <a:pt x="406400" y="728410"/>
                    </a:cubicBezTo>
                    <a:cubicBezTo>
                      <a:pt x="630849" y="728410"/>
                      <a:pt x="812800" y="565350"/>
                      <a:pt x="812800" y="364205"/>
                    </a:cubicBezTo>
                    <a:cubicBezTo>
                      <a:pt x="812800" y="163060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sq">
                <a:solidFill>
                  <a:srgbClr val="303F9F"/>
                </a:solidFill>
                <a:prstDash val="solid"/>
                <a:miter/>
              </a:ln>
            </p:spPr>
          </p:sp>
          <p:sp>
            <p:nvSpPr>
              <p:cNvPr id="110" name="TextBox 110"/>
              <p:cNvSpPr txBox="1"/>
              <p:nvPr/>
            </p:nvSpPr>
            <p:spPr>
              <a:xfrm>
                <a:off x="76200" y="39713"/>
                <a:ext cx="660400" cy="620408"/>
              </a:xfrm>
              <a:prstGeom prst="rect">
                <a:avLst/>
              </a:prstGeom>
            </p:spPr>
            <p:txBody>
              <a:bodyPr lIns="96546" tIns="96546" rIns="96546" bIns="96546" rtlCol="0" anchor="ctr"/>
              <a:lstStyle/>
              <a:p>
                <a:pPr algn="ctr">
                  <a:lnSpc>
                    <a:spcPts val="19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11" name="TextBox 111"/>
            <p:cNvSpPr txBox="1"/>
            <p:nvPr/>
          </p:nvSpPr>
          <p:spPr>
            <a:xfrm>
              <a:off x="0" y="352084"/>
              <a:ext cx="716217" cy="3987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90"/>
                </a:lnSpc>
                <a:spcBef>
                  <a:spcPct val="0"/>
                </a:spcBef>
              </a:pPr>
              <a:r>
                <a:rPr lang="en-US" sz="185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</a:t>
              </a:r>
            </a:p>
          </p:txBody>
        </p:sp>
        <p:grpSp>
          <p:nvGrpSpPr>
            <p:cNvPr id="112" name="Group 112"/>
            <p:cNvGrpSpPr/>
            <p:nvPr/>
          </p:nvGrpSpPr>
          <p:grpSpPr>
            <a:xfrm rot="-5400000">
              <a:off x="-41489" y="1522294"/>
              <a:ext cx="799195" cy="716217"/>
              <a:chOff x="0" y="0"/>
              <a:chExt cx="812800" cy="728410"/>
            </a:xfrm>
          </p:grpSpPr>
          <p:sp>
            <p:nvSpPr>
              <p:cNvPr id="113" name="Freeform 11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0" y="0"/>
                <a:ext cx="812800" cy="72841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28410">
                    <a:moveTo>
                      <a:pt x="406400" y="0"/>
                    </a:moveTo>
                    <a:cubicBezTo>
                      <a:pt x="181951" y="0"/>
                      <a:pt x="0" y="163060"/>
                      <a:pt x="0" y="364205"/>
                    </a:cubicBezTo>
                    <a:cubicBezTo>
                      <a:pt x="0" y="565350"/>
                      <a:pt x="181951" y="728410"/>
                      <a:pt x="406400" y="728410"/>
                    </a:cubicBezTo>
                    <a:cubicBezTo>
                      <a:pt x="630849" y="728410"/>
                      <a:pt x="812800" y="565350"/>
                      <a:pt x="812800" y="364205"/>
                    </a:cubicBezTo>
                    <a:cubicBezTo>
                      <a:pt x="812800" y="163060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sq">
                <a:solidFill>
                  <a:srgbClr val="303F9F"/>
                </a:solidFill>
                <a:prstDash val="solid"/>
                <a:miter/>
              </a:ln>
            </p:spPr>
          </p:sp>
          <p:sp>
            <p:nvSpPr>
              <p:cNvPr id="114" name="TextBox 114"/>
              <p:cNvSpPr txBox="1"/>
              <p:nvPr/>
            </p:nvSpPr>
            <p:spPr>
              <a:xfrm>
                <a:off x="76200" y="39713"/>
                <a:ext cx="660400" cy="620408"/>
              </a:xfrm>
              <a:prstGeom prst="rect">
                <a:avLst/>
              </a:prstGeom>
            </p:spPr>
            <p:txBody>
              <a:bodyPr lIns="96546" tIns="96546" rIns="96546" bIns="96546" rtlCol="0" anchor="ctr"/>
              <a:lstStyle/>
              <a:p>
                <a:pPr algn="ctr">
                  <a:lnSpc>
                    <a:spcPts val="19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15" name="TextBox 115"/>
            <p:cNvSpPr txBox="1"/>
            <p:nvPr/>
          </p:nvSpPr>
          <p:spPr>
            <a:xfrm>
              <a:off x="0" y="1666718"/>
              <a:ext cx="716217" cy="3987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90"/>
                </a:lnSpc>
                <a:spcBef>
                  <a:spcPct val="0"/>
                </a:spcBef>
              </a:pPr>
              <a:r>
                <a:rPr lang="en-US" sz="185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2</a:t>
              </a:r>
            </a:p>
          </p:txBody>
        </p:sp>
        <p:grpSp>
          <p:nvGrpSpPr>
            <p:cNvPr id="116" name="Group 116"/>
            <p:cNvGrpSpPr/>
            <p:nvPr/>
          </p:nvGrpSpPr>
          <p:grpSpPr>
            <a:xfrm rot="-5400000">
              <a:off x="-41489" y="2836928"/>
              <a:ext cx="799195" cy="716217"/>
              <a:chOff x="0" y="0"/>
              <a:chExt cx="812800" cy="728410"/>
            </a:xfrm>
          </p:grpSpPr>
          <p:sp>
            <p:nvSpPr>
              <p:cNvPr id="117" name="Freeform 11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0" y="0"/>
                <a:ext cx="812800" cy="72841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28410">
                    <a:moveTo>
                      <a:pt x="406400" y="0"/>
                    </a:moveTo>
                    <a:cubicBezTo>
                      <a:pt x="181951" y="0"/>
                      <a:pt x="0" y="163060"/>
                      <a:pt x="0" y="364205"/>
                    </a:cubicBezTo>
                    <a:cubicBezTo>
                      <a:pt x="0" y="565350"/>
                      <a:pt x="181951" y="728410"/>
                      <a:pt x="406400" y="728410"/>
                    </a:cubicBezTo>
                    <a:cubicBezTo>
                      <a:pt x="630849" y="728410"/>
                      <a:pt x="812800" y="565350"/>
                      <a:pt x="812800" y="364205"/>
                    </a:cubicBezTo>
                    <a:cubicBezTo>
                      <a:pt x="812800" y="163060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sq">
                <a:solidFill>
                  <a:srgbClr val="303F9F"/>
                </a:solidFill>
                <a:prstDash val="solid"/>
                <a:miter/>
              </a:ln>
            </p:spPr>
          </p:sp>
          <p:sp>
            <p:nvSpPr>
              <p:cNvPr id="118" name="TextBox 118"/>
              <p:cNvSpPr txBox="1"/>
              <p:nvPr/>
            </p:nvSpPr>
            <p:spPr>
              <a:xfrm>
                <a:off x="76200" y="39713"/>
                <a:ext cx="660400" cy="620408"/>
              </a:xfrm>
              <a:prstGeom prst="rect">
                <a:avLst/>
              </a:prstGeom>
            </p:spPr>
            <p:txBody>
              <a:bodyPr lIns="96546" tIns="96546" rIns="96546" bIns="96546" rtlCol="0" anchor="ctr"/>
              <a:lstStyle/>
              <a:p>
                <a:pPr algn="ctr">
                  <a:lnSpc>
                    <a:spcPts val="19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19" name="TextBox 119"/>
            <p:cNvSpPr txBox="1"/>
            <p:nvPr/>
          </p:nvSpPr>
          <p:spPr>
            <a:xfrm>
              <a:off x="0" y="2981352"/>
              <a:ext cx="716217" cy="3987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90"/>
                </a:lnSpc>
                <a:spcBef>
                  <a:spcPct val="0"/>
                </a:spcBef>
              </a:pPr>
              <a:r>
                <a:rPr lang="en-US" sz="185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3</a:t>
              </a:r>
            </a:p>
          </p:txBody>
        </p:sp>
        <p:grpSp>
          <p:nvGrpSpPr>
            <p:cNvPr id="120" name="Group 120"/>
            <p:cNvGrpSpPr/>
            <p:nvPr/>
          </p:nvGrpSpPr>
          <p:grpSpPr>
            <a:xfrm rot="-5400000">
              <a:off x="-41489" y="4151563"/>
              <a:ext cx="799195" cy="716217"/>
              <a:chOff x="0" y="0"/>
              <a:chExt cx="812800" cy="728410"/>
            </a:xfrm>
          </p:grpSpPr>
          <p:sp>
            <p:nvSpPr>
              <p:cNvPr id="121" name="Freeform 12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0" y="0"/>
                <a:ext cx="812800" cy="72841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28410">
                    <a:moveTo>
                      <a:pt x="406400" y="0"/>
                    </a:moveTo>
                    <a:cubicBezTo>
                      <a:pt x="181951" y="0"/>
                      <a:pt x="0" y="163060"/>
                      <a:pt x="0" y="364205"/>
                    </a:cubicBezTo>
                    <a:cubicBezTo>
                      <a:pt x="0" y="565350"/>
                      <a:pt x="181951" y="728410"/>
                      <a:pt x="406400" y="728410"/>
                    </a:cubicBezTo>
                    <a:cubicBezTo>
                      <a:pt x="630849" y="728410"/>
                      <a:pt x="812800" y="565350"/>
                      <a:pt x="812800" y="364205"/>
                    </a:cubicBezTo>
                    <a:cubicBezTo>
                      <a:pt x="812800" y="163060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sq">
                <a:solidFill>
                  <a:srgbClr val="303F9F"/>
                </a:solidFill>
                <a:prstDash val="solid"/>
                <a:miter/>
              </a:ln>
            </p:spPr>
          </p:sp>
          <p:sp>
            <p:nvSpPr>
              <p:cNvPr id="122" name="TextBox 122"/>
              <p:cNvSpPr txBox="1"/>
              <p:nvPr/>
            </p:nvSpPr>
            <p:spPr>
              <a:xfrm>
                <a:off x="76200" y="39713"/>
                <a:ext cx="660400" cy="620408"/>
              </a:xfrm>
              <a:prstGeom prst="rect">
                <a:avLst/>
              </a:prstGeom>
            </p:spPr>
            <p:txBody>
              <a:bodyPr lIns="96546" tIns="96546" rIns="96546" bIns="96546" rtlCol="0" anchor="ctr"/>
              <a:lstStyle/>
              <a:p>
                <a:pPr algn="ctr">
                  <a:lnSpc>
                    <a:spcPts val="19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23" name="TextBox 123"/>
            <p:cNvSpPr txBox="1"/>
            <p:nvPr/>
          </p:nvSpPr>
          <p:spPr>
            <a:xfrm>
              <a:off x="0" y="4295987"/>
              <a:ext cx="716217" cy="3987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90"/>
                </a:lnSpc>
                <a:spcBef>
                  <a:spcPct val="0"/>
                </a:spcBef>
              </a:pPr>
              <a:r>
                <a:rPr lang="en-US" sz="185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4</a:t>
              </a:r>
            </a:p>
          </p:txBody>
        </p:sp>
        <p:grpSp>
          <p:nvGrpSpPr>
            <p:cNvPr id="124" name="Group 124"/>
            <p:cNvGrpSpPr/>
            <p:nvPr/>
          </p:nvGrpSpPr>
          <p:grpSpPr>
            <a:xfrm rot="-5400000">
              <a:off x="-41489" y="5466197"/>
              <a:ext cx="799195" cy="716217"/>
              <a:chOff x="0" y="0"/>
              <a:chExt cx="812800" cy="728410"/>
            </a:xfrm>
          </p:grpSpPr>
          <p:sp>
            <p:nvSpPr>
              <p:cNvPr id="125" name="Freeform 12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0" y="0"/>
                <a:ext cx="812800" cy="72841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28410">
                    <a:moveTo>
                      <a:pt x="406400" y="0"/>
                    </a:moveTo>
                    <a:cubicBezTo>
                      <a:pt x="181951" y="0"/>
                      <a:pt x="0" y="163060"/>
                      <a:pt x="0" y="364205"/>
                    </a:cubicBezTo>
                    <a:cubicBezTo>
                      <a:pt x="0" y="565350"/>
                      <a:pt x="181951" y="728410"/>
                      <a:pt x="406400" y="728410"/>
                    </a:cubicBezTo>
                    <a:cubicBezTo>
                      <a:pt x="630849" y="728410"/>
                      <a:pt x="812800" y="565350"/>
                      <a:pt x="812800" y="364205"/>
                    </a:cubicBezTo>
                    <a:cubicBezTo>
                      <a:pt x="812800" y="163060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sq">
                <a:solidFill>
                  <a:srgbClr val="303F9F"/>
                </a:solidFill>
                <a:prstDash val="solid"/>
                <a:miter/>
              </a:ln>
            </p:spPr>
          </p:sp>
          <p:sp>
            <p:nvSpPr>
              <p:cNvPr id="126" name="TextBox 126"/>
              <p:cNvSpPr txBox="1"/>
              <p:nvPr/>
            </p:nvSpPr>
            <p:spPr>
              <a:xfrm>
                <a:off x="76200" y="39713"/>
                <a:ext cx="660400" cy="620408"/>
              </a:xfrm>
              <a:prstGeom prst="rect">
                <a:avLst/>
              </a:prstGeom>
            </p:spPr>
            <p:txBody>
              <a:bodyPr lIns="96546" tIns="96546" rIns="96546" bIns="96546" rtlCol="0" anchor="ctr"/>
              <a:lstStyle/>
              <a:p>
                <a:pPr algn="ctr">
                  <a:lnSpc>
                    <a:spcPts val="19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27" name="TextBox 127"/>
            <p:cNvSpPr txBox="1"/>
            <p:nvPr/>
          </p:nvSpPr>
          <p:spPr>
            <a:xfrm>
              <a:off x="0" y="5610621"/>
              <a:ext cx="716217" cy="3987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90"/>
                </a:lnSpc>
                <a:spcBef>
                  <a:spcPct val="0"/>
                </a:spcBef>
              </a:pPr>
              <a:r>
                <a:rPr lang="en-US" sz="185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5</a:t>
              </a:r>
            </a:p>
          </p:txBody>
        </p:sp>
        <p:grpSp>
          <p:nvGrpSpPr>
            <p:cNvPr id="128" name="Group 128"/>
            <p:cNvGrpSpPr/>
            <p:nvPr/>
          </p:nvGrpSpPr>
          <p:grpSpPr>
            <a:xfrm rot="-5400000">
              <a:off x="-41489" y="6780831"/>
              <a:ext cx="799195" cy="716217"/>
              <a:chOff x="0" y="0"/>
              <a:chExt cx="812800" cy="728410"/>
            </a:xfrm>
          </p:grpSpPr>
          <p:sp>
            <p:nvSpPr>
              <p:cNvPr id="129" name="Freeform 12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0" y="0"/>
                <a:ext cx="812800" cy="72841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28410">
                    <a:moveTo>
                      <a:pt x="406400" y="0"/>
                    </a:moveTo>
                    <a:cubicBezTo>
                      <a:pt x="181951" y="0"/>
                      <a:pt x="0" y="163060"/>
                      <a:pt x="0" y="364205"/>
                    </a:cubicBezTo>
                    <a:cubicBezTo>
                      <a:pt x="0" y="565350"/>
                      <a:pt x="181951" y="728410"/>
                      <a:pt x="406400" y="728410"/>
                    </a:cubicBezTo>
                    <a:cubicBezTo>
                      <a:pt x="630849" y="728410"/>
                      <a:pt x="812800" y="565350"/>
                      <a:pt x="812800" y="364205"/>
                    </a:cubicBezTo>
                    <a:cubicBezTo>
                      <a:pt x="812800" y="163060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sq">
                <a:solidFill>
                  <a:srgbClr val="303F9F"/>
                </a:solidFill>
                <a:prstDash val="solid"/>
                <a:miter/>
              </a:ln>
            </p:spPr>
          </p:sp>
          <p:sp>
            <p:nvSpPr>
              <p:cNvPr id="130" name="TextBox 130"/>
              <p:cNvSpPr txBox="1"/>
              <p:nvPr/>
            </p:nvSpPr>
            <p:spPr>
              <a:xfrm>
                <a:off x="76200" y="39713"/>
                <a:ext cx="660400" cy="620408"/>
              </a:xfrm>
              <a:prstGeom prst="rect">
                <a:avLst/>
              </a:prstGeom>
            </p:spPr>
            <p:txBody>
              <a:bodyPr lIns="96546" tIns="96546" rIns="96546" bIns="96546" rtlCol="0" anchor="ctr"/>
              <a:lstStyle/>
              <a:p>
                <a:pPr algn="ctr">
                  <a:lnSpc>
                    <a:spcPts val="19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31" name="TextBox 131"/>
            <p:cNvSpPr txBox="1"/>
            <p:nvPr/>
          </p:nvSpPr>
          <p:spPr>
            <a:xfrm>
              <a:off x="0" y="6925256"/>
              <a:ext cx="716217" cy="3987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90"/>
                </a:lnSpc>
                <a:spcBef>
                  <a:spcPct val="0"/>
                </a:spcBef>
              </a:pPr>
              <a:r>
                <a:rPr lang="en-US" sz="185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6</a:t>
              </a:r>
            </a:p>
          </p:txBody>
        </p:sp>
        <p:grpSp>
          <p:nvGrpSpPr>
            <p:cNvPr id="132" name="Group 132"/>
            <p:cNvGrpSpPr/>
            <p:nvPr/>
          </p:nvGrpSpPr>
          <p:grpSpPr>
            <a:xfrm rot="-5400000">
              <a:off x="-41489" y="8095466"/>
              <a:ext cx="799195" cy="716217"/>
              <a:chOff x="0" y="0"/>
              <a:chExt cx="812800" cy="728410"/>
            </a:xfrm>
          </p:grpSpPr>
          <p:sp>
            <p:nvSpPr>
              <p:cNvPr id="133" name="Freeform 13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0" y="0"/>
                <a:ext cx="812800" cy="72841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28410">
                    <a:moveTo>
                      <a:pt x="406400" y="0"/>
                    </a:moveTo>
                    <a:cubicBezTo>
                      <a:pt x="181951" y="0"/>
                      <a:pt x="0" y="163060"/>
                      <a:pt x="0" y="364205"/>
                    </a:cubicBezTo>
                    <a:cubicBezTo>
                      <a:pt x="0" y="565350"/>
                      <a:pt x="181951" y="728410"/>
                      <a:pt x="406400" y="728410"/>
                    </a:cubicBezTo>
                    <a:cubicBezTo>
                      <a:pt x="630849" y="728410"/>
                      <a:pt x="812800" y="565350"/>
                      <a:pt x="812800" y="364205"/>
                    </a:cubicBezTo>
                    <a:cubicBezTo>
                      <a:pt x="812800" y="163060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sq">
                <a:solidFill>
                  <a:srgbClr val="303F9F"/>
                </a:solidFill>
                <a:prstDash val="solid"/>
                <a:miter/>
              </a:ln>
            </p:spPr>
          </p:sp>
          <p:sp>
            <p:nvSpPr>
              <p:cNvPr id="134" name="TextBox 134"/>
              <p:cNvSpPr txBox="1"/>
              <p:nvPr/>
            </p:nvSpPr>
            <p:spPr>
              <a:xfrm>
                <a:off x="76200" y="39713"/>
                <a:ext cx="660400" cy="620408"/>
              </a:xfrm>
              <a:prstGeom prst="rect">
                <a:avLst/>
              </a:prstGeom>
            </p:spPr>
            <p:txBody>
              <a:bodyPr lIns="96546" tIns="96546" rIns="96546" bIns="96546" rtlCol="0" anchor="ctr"/>
              <a:lstStyle/>
              <a:p>
                <a:pPr algn="ctr">
                  <a:lnSpc>
                    <a:spcPts val="19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35" name="TextBox 135"/>
            <p:cNvSpPr txBox="1"/>
            <p:nvPr/>
          </p:nvSpPr>
          <p:spPr>
            <a:xfrm>
              <a:off x="0" y="8239890"/>
              <a:ext cx="716217" cy="3987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90"/>
                </a:lnSpc>
                <a:spcBef>
                  <a:spcPct val="0"/>
                </a:spcBef>
              </a:pPr>
              <a:r>
                <a:rPr lang="en-US" sz="185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7</a:t>
              </a:r>
            </a:p>
          </p:txBody>
        </p:sp>
        <p:grpSp>
          <p:nvGrpSpPr>
            <p:cNvPr id="136" name="Group 136"/>
            <p:cNvGrpSpPr/>
            <p:nvPr/>
          </p:nvGrpSpPr>
          <p:grpSpPr>
            <a:xfrm rot="-5400000">
              <a:off x="-41489" y="9386386"/>
              <a:ext cx="799195" cy="716217"/>
              <a:chOff x="0" y="0"/>
              <a:chExt cx="812800" cy="728410"/>
            </a:xfrm>
          </p:grpSpPr>
          <p:sp>
            <p:nvSpPr>
              <p:cNvPr id="137" name="Freeform 13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0" y="0"/>
                <a:ext cx="812800" cy="72841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28410">
                    <a:moveTo>
                      <a:pt x="406400" y="0"/>
                    </a:moveTo>
                    <a:cubicBezTo>
                      <a:pt x="181951" y="0"/>
                      <a:pt x="0" y="163060"/>
                      <a:pt x="0" y="364205"/>
                    </a:cubicBezTo>
                    <a:cubicBezTo>
                      <a:pt x="0" y="565350"/>
                      <a:pt x="181951" y="728410"/>
                      <a:pt x="406400" y="728410"/>
                    </a:cubicBezTo>
                    <a:cubicBezTo>
                      <a:pt x="630849" y="728410"/>
                      <a:pt x="812800" y="565350"/>
                      <a:pt x="812800" y="364205"/>
                    </a:cubicBezTo>
                    <a:cubicBezTo>
                      <a:pt x="812800" y="163060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sq">
                <a:solidFill>
                  <a:srgbClr val="303F9F"/>
                </a:solidFill>
                <a:prstDash val="solid"/>
                <a:miter/>
              </a:ln>
            </p:spPr>
          </p:sp>
          <p:sp>
            <p:nvSpPr>
              <p:cNvPr id="138" name="TextBox 138"/>
              <p:cNvSpPr txBox="1"/>
              <p:nvPr/>
            </p:nvSpPr>
            <p:spPr>
              <a:xfrm>
                <a:off x="76200" y="39713"/>
                <a:ext cx="660400" cy="620408"/>
              </a:xfrm>
              <a:prstGeom prst="rect">
                <a:avLst/>
              </a:prstGeom>
            </p:spPr>
            <p:txBody>
              <a:bodyPr lIns="96546" tIns="96546" rIns="96546" bIns="96546" rtlCol="0" anchor="ctr"/>
              <a:lstStyle/>
              <a:p>
                <a:pPr algn="ctr">
                  <a:lnSpc>
                    <a:spcPts val="19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39" name="TextBox 139"/>
            <p:cNvSpPr txBox="1"/>
            <p:nvPr/>
          </p:nvSpPr>
          <p:spPr>
            <a:xfrm>
              <a:off x="0" y="9530810"/>
              <a:ext cx="716217" cy="3987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90"/>
                </a:lnSpc>
                <a:spcBef>
                  <a:spcPct val="0"/>
                </a:spcBef>
              </a:pPr>
              <a:r>
                <a:rPr lang="en-US" sz="185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8</a:t>
              </a:r>
            </a:p>
          </p:txBody>
        </p:sp>
        <p:sp>
          <p:nvSpPr>
            <p:cNvPr id="140" name="TextBox 140"/>
            <p:cNvSpPr txBox="1"/>
            <p:nvPr/>
          </p:nvSpPr>
          <p:spPr>
            <a:xfrm>
              <a:off x="854328" y="310402"/>
              <a:ext cx="4927453" cy="4726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99"/>
                </a:lnSpc>
                <a:spcBef>
                  <a:spcPct val="0"/>
                </a:spcBef>
              </a:pPr>
              <a:r>
                <a:rPr lang="en-US" sz="214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Player moves a chess piece. </a:t>
              </a:r>
            </a:p>
          </p:txBody>
        </p:sp>
        <p:sp>
          <p:nvSpPr>
            <p:cNvPr id="141" name="TextBox 141"/>
            <p:cNvSpPr txBox="1"/>
            <p:nvPr/>
          </p:nvSpPr>
          <p:spPr>
            <a:xfrm>
              <a:off x="854328" y="1607251"/>
              <a:ext cx="5857066" cy="4726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99"/>
                </a:lnSpc>
                <a:spcBef>
                  <a:spcPct val="0"/>
                </a:spcBef>
              </a:pPr>
              <a:r>
                <a:rPr lang="en-US" sz="214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Camera captures board changes.</a:t>
              </a:r>
            </a:p>
          </p:txBody>
        </p:sp>
        <p:sp>
          <p:nvSpPr>
            <p:cNvPr id="142" name="TextBox 142"/>
            <p:cNvSpPr txBox="1"/>
            <p:nvPr/>
          </p:nvSpPr>
          <p:spPr>
            <a:xfrm>
              <a:off x="854328" y="2686124"/>
              <a:ext cx="6646289" cy="979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14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System identifies source and destination squares</a:t>
              </a:r>
            </a:p>
          </p:txBody>
        </p:sp>
        <p:sp>
          <p:nvSpPr>
            <p:cNvPr id="143" name="TextBox 143"/>
            <p:cNvSpPr txBox="1"/>
            <p:nvPr/>
          </p:nvSpPr>
          <p:spPr>
            <a:xfrm>
              <a:off x="854328" y="4219192"/>
              <a:ext cx="6434326" cy="4792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999"/>
                </a:lnSpc>
                <a:spcBef>
                  <a:spcPct val="0"/>
                </a:spcBef>
              </a:pPr>
              <a:r>
                <a:rPr lang="en-US" sz="2142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Chess engine validates the move</a:t>
              </a:r>
            </a:p>
          </p:txBody>
        </p:sp>
        <p:sp>
          <p:nvSpPr>
            <p:cNvPr id="144" name="TextBox 144"/>
            <p:cNvSpPr txBox="1"/>
            <p:nvPr/>
          </p:nvSpPr>
          <p:spPr>
            <a:xfrm>
              <a:off x="854328" y="5516270"/>
              <a:ext cx="5441193" cy="4726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99"/>
                </a:lnSpc>
                <a:spcBef>
                  <a:spcPct val="0"/>
                </a:spcBef>
              </a:pPr>
              <a:r>
                <a:rPr lang="en-US" sz="214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AI calculates the best response</a:t>
              </a:r>
            </a:p>
          </p:txBody>
        </p:sp>
        <p:sp>
          <p:nvSpPr>
            <p:cNvPr id="145" name="TextBox 145"/>
            <p:cNvSpPr txBox="1"/>
            <p:nvPr/>
          </p:nvSpPr>
          <p:spPr>
            <a:xfrm>
              <a:off x="854328" y="6811585"/>
              <a:ext cx="5857065" cy="4792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999"/>
                </a:lnSpc>
                <a:spcBef>
                  <a:spcPct val="0"/>
                </a:spcBef>
              </a:pPr>
              <a:r>
                <a:rPr lang="en-US" sz="2142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Robotic arm executes the move</a:t>
              </a:r>
            </a:p>
          </p:txBody>
        </p:sp>
        <p:sp>
          <p:nvSpPr>
            <p:cNvPr id="146" name="TextBox 146"/>
            <p:cNvSpPr txBox="1"/>
            <p:nvPr/>
          </p:nvSpPr>
          <p:spPr>
            <a:xfrm>
              <a:off x="854328" y="8145769"/>
              <a:ext cx="5621526" cy="4792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999"/>
                </a:lnSpc>
                <a:spcBef>
                  <a:spcPct val="0"/>
                </a:spcBef>
              </a:pPr>
              <a:r>
                <a:rPr lang="en-US" sz="2142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Board state is updated</a:t>
              </a:r>
            </a:p>
          </p:txBody>
        </p:sp>
        <p:sp>
          <p:nvSpPr>
            <p:cNvPr id="147" name="TextBox 147"/>
            <p:cNvSpPr txBox="1"/>
            <p:nvPr/>
          </p:nvSpPr>
          <p:spPr>
            <a:xfrm>
              <a:off x="854328" y="9442962"/>
              <a:ext cx="6552158" cy="9561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142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Gameplay continues until completion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471991">
            <a:off x="800916" y="305438"/>
            <a:ext cx="455567" cy="654209"/>
          </a:xfrm>
          <a:custGeom>
            <a:avLst/>
            <a:gdLst/>
            <a:ahLst/>
            <a:cxnLst/>
            <a:rect l="l" t="t" r="r" b="b"/>
            <a:pathLst>
              <a:path w="455567" h="654209">
                <a:moveTo>
                  <a:pt x="0" y="0"/>
                </a:moveTo>
                <a:lnTo>
                  <a:pt x="455568" y="0"/>
                </a:lnTo>
                <a:lnTo>
                  <a:pt x="455568" y="654209"/>
                </a:lnTo>
                <a:lnTo>
                  <a:pt x="0" y="6542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985866" y="1858359"/>
            <a:ext cx="2134069" cy="889861"/>
          </a:xfrm>
          <a:custGeom>
            <a:avLst/>
            <a:gdLst/>
            <a:ahLst/>
            <a:cxnLst/>
            <a:rect l="l" t="t" r="r" b="b"/>
            <a:pathLst>
              <a:path w="2134069" h="889861">
                <a:moveTo>
                  <a:pt x="0" y="0"/>
                </a:moveTo>
                <a:lnTo>
                  <a:pt x="2134069" y="0"/>
                </a:lnTo>
                <a:lnTo>
                  <a:pt x="2134069" y="889861"/>
                </a:lnTo>
                <a:lnTo>
                  <a:pt x="0" y="8898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7413" b="-72407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02993" y="2281514"/>
            <a:ext cx="2630516" cy="2853539"/>
            <a:chOff x="0" y="0"/>
            <a:chExt cx="667495" cy="724087"/>
          </a:xfrm>
        </p:grpSpPr>
        <p:sp>
          <p:nvSpPr>
            <p:cNvPr id="5" name="Freeform 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667495" cy="724087"/>
            </a:xfrm>
            <a:custGeom>
              <a:avLst/>
              <a:gdLst/>
              <a:ahLst/>
              <a:cxnLst/>
              <a:rect l="l" t="t" r="r" b="b"/>
              <a:pathLst>
                <a:path w="667495" h="724087">
                  <a:moveTo>
                    <a:pt x="222619" y="705018"/>
                  </a:moveTo>
                  <a:cubicBezTo>
                    <a:pt x="256839" y="716532"/>
                    <a:pt x="295744" y="724087"/>
                    <a:pt x="333927" y="724087"/>
                  </a:cubicBezTo>
                  <a:cubicBezTo>
                    <a:pt x="372112" y="724087"/>
                    <a:pt x="408855" y="717610"/>
                    <a:pt x="442715" y="706096"/>
                  </a:cubicBezTo>
                  <a:cubicBezTo>
                    <a:pt x="443436" y="705737"/>
                    <a:pt x="444156" y="705737"/>
                    <a:pt x="444876" y="705377"/>
                  </a:cubicBezTo>
                  <a:cubicBezTo>
                    <a:pt x="572035" y="659322"/>
                    <a:pt x="665694" y="537708"/>
                    <a:pt x="667495" y="397556"/>
                  </a:cubicBezTo>
                  <a:lnTo>
                    <a:pt x="667495" y="0"/>
                  </a:lnTo>
                  <a:lnTo>
                    <a:pt x="0" y="0"/>
                  </a:lnTo>
                  <a:lnTo>
                    <a:pt x="0" y="397260"/>
                  </a:lnTo>
                  <a:cubicBezTo>
                    <a:pt x="1801" y="538427"/>
                    <a:pt x="94018" y="660042"/>
                    <a:pt x="222619" y="705018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38100"/>
              <a:ext cx="667495" cy="558987"/>
            </a:xfrm>
            <a:prstGeom prst="rect">
              <a:avLst/>
            </a:prstGeom>
          </p:spPr>
          <p:txBody>
            <a:bodyPr lIns="44402" tIns="44402" rIns="44402" bIns="44402" rtlCol="0" anchor="ctr"/>
            <a:lstStyle/>
            <a:p>
              <a:pPr algn="ctr">
                <a:lnSpc>
                  <a:spcPts val="143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97446" y="2086705"/>
            <a:ext cx="2841610" cy="194809"/>
            <a:chOff x="0" y="0"/>
            <a:chExt cx="793642" cy="5440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93642" cy="54409"/>
            </a:xfrm>
            <a:custGeom>
              <a:avLst/>
              <a:gdLst/>
              <a:ahLst/>
              <a:cxnLst/>
              <a:rect l="l" t="t" r="r" b="b"/>
              <a:pathLst>
                <a:path w="793642" h="54409">
                  <a:moveTo>
                    <a:pt x="27204" y="0"/>
                  </a:moveTo>
                  <a:lnTo>
                    <a:pt x="766438" y="0"/>
                  </a:lnTo>
                  <a:cubicBezTo>
                    <a:pt x="781462" y="0"/>
                    <a:pt x="793642" y="12180"/>
                    <a:pt x="793642" y="27204"/>
                  </a:cubicBezTo>
                  <a:lnTo>
                    <a:pt x="793642" y="27204"/>
                  </a:lnTo>
                  <a:cubicBezTo>
                    <a:pt x="793642" y="34420"/>
                    <a:pt x="790776" y="41339"/>
                    <a:pt x="785674" y="46441"/>
                  </a:cubicBezTo>
                  <a:cubicBezTo>
                    <a:pt x="780572" y="51543"/>
                    <a:pt x="773653" y="54409"/>
                    <a:pt x="766438" y="54409"/>
                  </a:cubicBezTo>
                  <a:lnTo>
                    <a:pt x="27204" y="54409"/>
                  </a:lnTo>
                  <a:cubicBezTo>
                    <a:pt x="19989" y="54409"/>
                    <a:pt x="13070" y="51543"/>
                    <a:pt x="7968" y="46441"/>
                  </a:cubicBezTo>
                  <a:cubicBezTo>
                    <a:pt x="2866" y="41339"/>
                    <a:pt x="0" y="34420"/>
                    <a:pt x="0" y="27204"/>
                  </a:cubicBezTo>
                  <a:lnTo>
                    <a:pt x="0" y="27204"/>
                  </a:lnTo>
                  <a:cubicBezTo>
                    <a:pt x="0" y="19989"/>
                    <a:pt x="2866" y="13070"/>
                    <a:pt x="7968" y="7968"/>
                  </a:cubicBezTo>
                  <a:cubicBezTo>
                    <a:pt x="13070" y="2866"/>
                    <a:pt x="19989" y="0"/>
                    <a:pt x="27204" y="0"/>
                  </a:cubicBezTo>
                  <a:close/>
                </a:path>
              </a:pathLst>
            </a:custGeom>
            <a:solidFill>
              <a:srgbClr val="303F9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793642" cy="92509"/>
            </a:xfrm>
            <a:prstGeom prst="rect">
              <a:avLst/>
            </a:prstGeom>
          </p:spPr>
          <p:txBody>
            <a:bodyPr lIns="44402" tIns="44402" rIns="44402" bIns="44402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5400000">
            <a:off x="1038503" y="1851790"/>
            <a:ext cx="664038" cy="640402"/>
            <a:chOff x="0" y="0"/>
            <a:chExt cx="812800" cy="783869"/>
          </a:xfrm>
        </p:grpSpPr>
        <p:sp>
          <p:nvSpPr>
            <p:cNvPr id="11" name="Freeform 1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812800" cy="783869"/>
            </a:xfrm>
            <a:custGeom>
              <a:avLst/>
              <a:gdLst/>
              <a:ahLst/>
              <a:cxnLst/>
              <a:rect l="l" t="t" r="r" b="b"/>
              <a:pathLst>
                <a:path w="812800" h="783869">
                  <a:moveTo>
                    <a:pt x="406400" y="0"/>
                  </a:moveTo>
                  <a:cubicBezTo>
                    <a:pt x="181951" y="0"/>
                    <a:pt x="0" y="175475"/>
                    <a:pt x="0" y="391934"/>
                  </a:cubicBezTo>
                  <a:cubicBezTo>
                    <a:pt x="0" y="608394"/>
                    <a:pt x="181951" y="783869"/>
                    <a:pt x="406400" y="783869"/>
                  </a:cubicBezTo>
                  <a:cubicBezTo>
                    <a:pt x="630849" y="783869"/>
                    <a:pt x="812800" y="608394"/>
                    <a:pt x="812800" y="391934"/>
                  </a:cubicBezTo>
                  <a:cubicBezTo>
                    <a:pt x="812800" y="17547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303F9F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4913"/>
              <a:ext cx="660400" cy="665468"/>
            </a:xfrm>
            <a:prstGeom prst="rect">
              <a:avLst/>
            </a:prstGeom>
          </p:spPr>
          <p:txBody>
            <a:bodyPr lIns="96546" tIns="96546" rIns="96546" bIns="96546" rtlCol="0" anchor="ctr"/>
            <a:lstStyle/>
            <a:p>
              <a:pPr algn="ctr">
                <a:lnSpc>
                  <a:spcPts val="19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39693" y="2281514"/>
            <a:ext cx="2630516" cy="2853539"/>
            <a:chOff x="0" y="0"/>
            <a:chExt cx="667495" cy="724087"/>
          </a:xfrm>
        </p:grpSpPr>
        <p:sp>
          <p:nvSpPr>
            <p:cNvPr id="14" name="Freeform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667495" cy="724087"/>
            </a:xfrm>
            <a:custGeom>
              <a:avLst/>
              <a:gdLst/>
              <a:ahLst/>
              <a:cxnLst/>
              <a:rect l="l" t="t" r="r" b="b"/>
              <a:pathLst>
                <a:path w="667495" h="724087">
                  <a:moveTo>
                    <a:pt x="222619" y="705018"/>
                  </a:moveTo>
                  <a:cubicBezTo>
                    <a:pt x="256839" y="716532"/>
                    <a:pt x="295744" y="724087"/>
                    <a:pt x="333927" y="724087"/>
                  </a:cubicBezTo>
                  <a:cubicBezTo>
                    <a:pt x="372112" y="724087"/>
                    <a:pt x="408855" y="717610"/>
                    <a:pt x="442715" y="706096"/>
                  </a:cubicBezTo>
                  <a:cubicBezTo>
                    <a:pt x="443436" y="705737"/>
                    <a:pt x="444156" y="705737"/>
                    <a:pt x="444876" y="705377"/>
                  </a:cubicBezTo>
                  <a:cubicBezTo>
                    <a:pt x="572035" y="659322"/>
                    <a:pt x="665694" y="537708"/>
                    <a:pt x="667495" y="397556"/>
                  </a:cubicBezTo>
                  <a:lnTo>
                    <a:pt x="667495" y="0"/>
                  </a:lnTo>
                  <a:lnTo>
                    <a:pt x="0" y="0"/>
                  </a:lnTo>
                  <a:lnTo>
                    <a:pt x="0" y="397260"/>
                  </a:lnTo>
                  <a:cubicBezTo>
                    <a:pt x="1801" y="538427"/>
                    <a:pt x="94018" y="660042"/>
                    <a:pt x="222619" y="705018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38100"/>
              <a:ext cx="667495" cy="558987"/>
            </a:xfrm>
            <a:prstGeom prst="rect">
              <a:avLst/>
            </a:prstGeom>
          </p:spPr>
          <p:txBody>
            <a:bodyPr lIns="44402" tIns="44402" rIns="44402" bIns="44402" rtlCol="0" anchor="ctr"/>
            <a:lstStyle/>
            <a:p>
              <a:pPr algn="ctr">
                <a:lnSpc>
                  <a:spcPts val="143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834145" y="2086705"/>
            <a:ext cx="2841610" cy="194809"/>
            <a:chOff x="0" y="0"/>
            <a:chExt cx="793642" cy="5440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93642" cy="54409"/>
            </a:xfrm>
            <a:custGeom>
              <a:avLst/>
              <a:gdLst/>
              <a:ahLst/>
              <a:cxnLst/>
              <a:rect l="l" t="t" r="r" b="b"/>
              <a:pathLst>
                <a:path w="793642" h="54409">
                  <a:moveTo>
                    <a:pt x="27204" y="0"/>
                  </a:moveTo>
                  <a:lnTo>
                    <a:pt x="766438" y="0"/>
                  </a:lnTo>
                  <a:cubicBezTo>
                    <a:pt x="781462" y="0"/>
                    <a:pt x="793642" y="12180"/>
                    <a:pt x="793642" y="27204"/>
                  </a:cubicBezTo>
                  <a:lnTo>
                    <a:pt x="793642" y="27204"/>
                  </a:lnTo>
                  <a:cubicBezTo>
                    <a:pt x="793642" y="34420"/>
                    <a:pt x="790776" y="41339"/>
                    <a:pt x="785674" y="46441"/>
                  </a:cubicBezTo>
                  <a:cubicBezTo>
                    <a:pt x="780572" y="51543"/>
                    <a:pt x="773653" y="54409"/>
                    <a:pt x="766438" y="54409"/>
                  </a:cubicBezTo>
                  <a:lnTo>
                    <a:pt x="27204" y="54409"/>
                  </a:lnTo>
                  <a:cubicBezTo>
                    <a:pt x="19989" y="54409"/>
                    <a:pt x="13070" y="51543"/>
                    <a:pt x="7968" y="46441"/>
                  </a:cubicBezTo>
                  <a:cubicBezTo>
                    <a:pt x="2866" y="41339"/>
                    <a:pt x="0" y="34420"/>
                    <a:pt x="0" y="27204"/>
                  </a:cubicBezTo>
                  <a:lnTo>
                    <a:pt x="0" y="27204"/>
                  </a:lnTo>
                  <a:cubicBezTo>
                    <a:pt x="0" y="19989"/>
                    <a:pt x="2866" y="13070"/>
                    <a:pt x="7968" y="7968"/>
                  </a:cubicBezTo>
                  <a:cubicBezTo>
                    <a:pt x="13070" y="2866"/>
                    <a:pt x="19989" y="0"/>
                    <a:pt x="27204" y="0"/>
                  </a:cubicBezTo>
                  <a:close/>
                </a:path>
              </a:pathLst>
            </a:custGeom>
            <a:solidFill>
              <a:srgbClr val="303F9F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793642" cy="92509"/>
            </a:xfrm>
            <a:prstGeom prst="rect">
              <a:avLst/>
            </a:prstGeom>
          </p:spPr>
          <p:txBody>
            <a:bodyPr lIns="44402" tIns="44402" rIns="44402" bIns="44402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 rot="-5400000">
            <a:off x="4975203" y="1851790"/>
            <a:ext cx="664038" cy="640402"/>
            <a:chOff x="0" y="0"/>
            <a:chExt cx="812800" cy="783869"/>
          </a:xfrm>
        </p:grpSpPr>
        <p:sp>
          <p:nvSpPr>
            <p:cNvPr id="20" name="Freeform 2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812800" cy="783869"/>
            </a:xfrm>
            <a:custGeom>
              <a:avLst/>
              <a:gdLst/>
              <a:ahLst/>
              <a:cxnLst/>
              <a:rect l="l" t="t" r="r" b="b"/>
              <a:pathLst>
                <a:path w="812800" h="783869">
                  <a:moveTo>
                    <a:pt x="406400" y="0"/>
                  </a:moveTo>
                  <a:cubicBezTo>
                    <a:pt x="181951" y="0"/>
                    <a:pt x="0" y="175475"/>
                    <a:pt x="0" y="391934"/>
                  </a:cubicBezTo>
                  <a:cubicBezTo>
                    <a:pt x="0" y="608394"/>
                    <a:pt x="181951" y="783869"/>
                    <a:pt x="406400" y="783869"/>
                  </a:cubicBezTo>
                  <a:cubicBezTo>
                    <a:pt x="630849" y="783869"/>
                    <a:pt x="812800" y="608394"/>
                    <a:pt x="812800" y="391934"/>
                  </a:cubicBezTo>
                  <a:cubicBezTo>
                    <a:pt x="812800" y="17547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303F9F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4913"/>
              <a:ext cx="660400" cy="665468"/>
            </a:xfrm>
            <a:prstGeom prst="rect">
              <a:avLst/>
            </a:prstGeom>
          </p:spPr>
          <p:txBody>
            <a:bodyPr lIns="96546" tIns="96546" rIns="96546" bIns="96546" rtlCol="0" anchor="ctr"/>
            <a:lstStyle/>
            <a:p>
              <a:pPr algn="ctr">
                <a:lnSpc>
                  <a:spcPts val="19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34247" y="6138851"/>
            <a:ext cx="2630516" cy="2853539"/>
            <a:chOff x="0" y="0"/>
            <a:chExt cx="667495" cy="724087"/>
          </a:xfrm>
        </p:grpSpPr>
        <p:sp>
          <p:nvSpPr>
            <p:cNvPr id="23" name="Freeform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667495" cy="724087"/>
            </a:xfrm>
            <a:custGeom>
              <a:avLst/>
              <a:gdLst/>
              <a:ahLst/>
              <a:cxnLst/>
              <a:rect l="l" t="t" r="r" b="b"/>
              <a:pathLst>
                <a:path w="667495" h="724087">
                  <a:moveTo>
                    <a:pt x="222619" y="705018"/>
                  </a:moveTo>
                  <a:cubicBezTo>
                    <a:pt x="256839" y="716532"/>
                    <a:pt x="295744" y="724087"/>
                    <a:pt x="333927" y="724087"/>
                  </a:cubicBezTo>
                  <a:cubicBezTo>
                    <a:pt x="372112" y="724087"/>
                    <a:pt x="408855" y="717610"/>
                    <a:pt x="442715" y="706096"/>
                  </a:cubicBezTo>
                  <a:cubicBezTo>
                    <a:pt x="443436" y="705737"/>
                    <a:pt x="444156" y="705737"/>
                    <a:pt x="444876" y="705377"/>
                  </a:cubicBezTo>
                  <a:cubicBezTo>
                    <a:pt x="572035" y="659322"/>
                    <a:pt x="665694" y="537708"/>
                    <a:pt x="667495" y="397556"/>
                  </a:cubicBezTo>
                  <a:lnTo>
                    <a:pt x="667495" y="0"/>
                  </a:lnTo>
                  <a:lnTo>
                    <a:pt x="0" y="0"/>
                  </a:lnTo>
                  <a:lnTo>
                    <a:pt x="0" y="397260"/>
                  </a:lnTo>
                  <a:cubicBezTo>
                    <a:pt x="1801" y="538427"/>
                    <a:pt x="94018" y="660042"/>
                    <a:pt x="222619" y="705018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38100"/>
              <a:ext cx="667495" cy="558987"/>
            </a:xfrm>
            <a:prstGeom prst="rect">
              <a:avLst/>
            </a:prstGeom>
          </p:spPr>
          <p:txBody>
            <a:bodyPr lIns="44402" tIns="44402" rIns="44402" bIns="44402" rtlCol="0" anchor="ctr"/>
            <a:lstStyle/>
            <a:p>
              <a:pPr algn="ctr">
                <a:lnSpc>
                  <a:spcPts val="143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28700" y="5944042"/>
            <a:ext cx="2841610" cy="194809"/>
            <a:chOff x="0" y="0"/>
            <a:chExt cx="793642" cy="5440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93642" cy="54409"/>
            </a:xfrm>
            <a:custGeom>
              <a:avLst/>
              <a:gdLst/>
              <a:ahLst/>
              <a:cxnLst/>
              <a:rect l="l" t="t" r="r" b="b"/>
              <a:pathLst>
                <a:path w="793642" h="54409">
                  <a:moveTo>
                    <a:pt x="27204" y="0"/>
                  </a:moveTo>
                  <a:lnTo>
                    <a:pt x="766438" y="0"/>
                  </a:lnTo>
                  <a:cubicBezTo>
                    <a:pt x="781462" y="0"/>
                    <a:pt x="793642" y="12180"/>
                    <a:pt x="793642" y="27204"/>
                  </a:cubicBezTo>
                  <a:lnTo>
                    <a:pt x="793642" y="27204"/>
                  </a:lnTo>
                  <a:cubicBezTo>
                    <a:pt x="793642" y="34420"/>
                    <a:pt x="790776" y="41339"/>
                    <a:pt x="785674" y="46441"/>
                  </a:cubicBezTo>
                  <a:cubicBezTo>
                    <a:pt x="780572" y="51543"/>
                    <a:pt x="773653" y="54409"/>
                    <a:pt x="766438" y="54409"/>
                  </a:cubicBezTo>
                  <a:lnTo>
                    <a:pt x="27204" y="54409"/>
                  </a:lnTo>
                  <a:cubicBezTo>
                    <a:pt x="19989" y="54409"/>
                    <a:pt x="13070" y="51543"/>
                    <a:pt x="7968" y="46441"/>
                  </a:cubicBezTo>
                  <a:cubicBezTo>
                    <a:pt x="2866" y="41339"/>
                    <a:pt x="0" y="34420"/>
                    <a:pt x="0" y="27204"/>
                  </a:cubicBezTo>
                  <a:lnTo>
                    <a:pt x="0" y="27204"/>
                  </a:lnTo>
                  <a:cubicBezTo>
                    <a:pt x="0" y="19989"/>
                    <a:pt x="2866" y="13070"/>
                    <a:pt x="7968" y="7968"/>
                  </a:cubicBezTo>
                  <a:cubicBezTo>
                    <a:pt x="13070" y="2866"/>
                    <a:pt x="19989" y="0"/>
                    <a:pt x="27204" y="0"/>
                  </a:cubicBezTo>
                  <a:close/>
                </a:path>
              </a:pathLst>
            </a:custGeom>
            <a:solidFill>
              <a:srgbClr val="303F9F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793642" cy="92509"/>
            </a:xfrm>
            <a:prstGeom prst="rect">
              <a:avLst/>
            </a:prstGeom>
          </p:spPr>
          <p:txBody>
            <a:bodyPr lIns="44402" tIns="44402" rIns="44402" bIns="44402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 rot="-5400000">
            <a:off x="1169758" y="5709127"/>
            <a:ext cx="664038" cy="640402"/>
            <a:chOff x="0" y="0"/>
            <a:chExt cx="812800" cy="783869"/>
          </a:xfrm>
        </p:grpSpPr>
        <p:sp>
          <p:nvSpPr>
            <p:cNvPr id="29" name="Freeform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812800" cy="783869"/>
            </a:xfrm>
            <a:custGeom>
              <a:avLst/>
              <a:gdLst/>
              <a:ahLst/>
              <a:cxnLst/>
              <a:rect l="l" t="t" r="r" b="b"/>
              <a:pathLst>
                <a:path w="812800" h="783869">
                  <a:moveTo>
                    <a:pt x="406400" y="0"/>
                  </a:moveTo>
                  <a:cubicBezTo>
                    <a:pt x="181951" y="0"/>
                    <a:pt x="0" y="175475"/>
                    <a:pt x="0" y="391934"/>
                  </a:cubicBezTo>
                  <a:cubicBezTo>
                    <a:pt x="0" y="608394"/>
                    <a:pt x="181951" y="783869"/>
                    <a:pt x="406400" y="783869"/>
                  </a:cubicBezTo>
                  <a:cubicBezTo>
                    <a:pt x="630849" y="783869"/>
                    <a:pt x="812800" y="608394"/>
                    <a:pt x="812800" y="391934"/>
                  </a:cubicBezTo>
                  <a:cubicBezTo>
                    <a:pt x="812800" y="17547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303F9F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44913"/>
              <a:ext cx="660400" cy="665468"/>
            </a:xfrm>
            <a:prstGeom prst="rect">
              <a:avLst/>
            </a:prstGeom>
          </p:spPr>
          <p:txBody>
            <a:bodyPr lIns="96546" tIns="96546" rIns="96546" bIns="96546" rtlCol="0" anchor="ctr"/>
            <a:lstStyle/>
            <a:p>
              <a:pPr algn="ctr">
                <a:lnSpc>
                  <a:spcPts val="19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939693" y="6138851"/>
            <a:ext cx="2630516" cy="2853539"/>
            <a:chOff x="0" y="0"/>
            <a:chExt cx="667495" cy="724087"/>
          </a:xfrm>
        </p:grpSpPr>
        <p:sp>
          <p:nvSpPr>
            <p:cNvPr id="32" name="Freeform 3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667495" cy="724087"/>
            </a:xfrm>
            <a:custGeom>
              <a:avLst/>
              <a:gdLst/>
              <a:ahLst/>
              <a:cxnLst/>
              <a:rect l="l" t="t" r="r" b="b"/>
              <a:pathLst>
                <a:path w="667495" h="724087">
                  <a:moveTo>
                    <a:pt x="222619" y="705018"/>
                  </a:moveTo>
                  <a:cubicBezTo>
                    <a:pt x="256839" y="716532"/>
                    <a:pt x="295744" y="724087"/>
                    <a:pt x="333927" y="724087"/>
                  </a:cubicBezTo>
                  <a:cubicBezTo>
                    <a:pt x="372112" y="724087"/>
                    <a:pt x="408855" y="717610"/>
                    <a:pt x="442715" y="706096"/>
                  </a:cubicBezTo>
                  <a:cubicBezTo>
                    <a:pt x="443436" y="705737"/>
                    <a:pt x="444156" y="705737"/>
                    <a:pt x="444876" y="705377"/>
                  </a:cubicBezTo>
                  <a:cubicBezTo>
                    <a:pt x="572035" y="659322"/>
                    <a:pt x="665694" y="537708"/>
                    <a:pt x="667495" y="397556"/>
                  </a:cubicBezTo>
                  <a:lnTo>
                    <a:pt x="667495" y="0"/>
                  </a:lnTo>
                  <a:lnTo>
                    <a:pt x="0" y="0"/>
                  </a:lnTo>
                  <a:lnTo>
                    <a:pt x="0" y="397260"/>
                  </a:lnTo>
                  <a:cubicBezTo>
                    <a:pt x="1801" y="538427"/>
                    <a:pt x="94018" y="660042"/>
                    <a:pt x="222619" y="705018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38100"/>
              <a:ext cx="667495" cy="558987"/>
            </a:xfrm>
            <a:prstGeom prst="rect">
              <a:avLst/>
            </a:prstGeom>
          </p:spPr>
          <p:txBody>
            <a:bodyPr lIns="44402" tIns="44402" rIns="44402" bIns="44402" rtlCol="0" anchor="ctr"/>
            <a:lstStyle/>
            <a:p>
              <a:pPr algn="ctr">
                <a:lnSpc>
                  <a:spcPts val="1439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834145" y="5944042"/>
            <a:ext cx="2841610" cy="194809"/>
            <a:chOff x="0" y="0"/>
            <a:chExt cx="793642" cy="5440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793642" cy="54409"/>
            </a:xfrm>
            <a:custGeom>
              <a:avLst/>
              <a:gdLst/>
              <a:ahLst/>
              <a:cxnLst/>
              <a:rect l="l" t="t" r="r" b="b"/>
              <a:pathLst>
                <a:path w="793642" h="54409">
                  <a:moveTo>
                    <a:pt x="27204" y="0"/>
                  </a:moveTo>
                  <a:lnTo>
                    <a:pt x="766438" y="0"/>
                  </a:lnTo>
                  <a:cubicBezTo>
                    <a:pt x="781462" y="0"/>
                    <a:pt x="793642" y="12180"/>
                    <a:pt x="793642" y="27204"/>
                  </a:cubicBezTo>
                  <a:lnTo>
                    <a:pt x="793642" y="27204"/>
                  </a:lnTo>
                  <a:cubicBezTo>
                    <a:pt x="793642" y="34420"/>
                    <a:pt x="790776" y="41339"/>
                    <a:pt x="785674" y="46441"/>
                  </a:cubicBezTo>
                  <a:cubicBezTo>
                    <a:pt x="780572" y="51543"/>
                    <a:pt x="773653" y="54409"/>
                    <a:pt x="766438" y="54409"/>
                  </a:cubicBezTo>
                  <a:lnTo>
                    <a:pt x="27204" y="54409"/>
                  </a:lnTo>
                  <a:cubicBezTo>
                    <a:pt x="19989" y="54409"/>
                    <a:pt x="13070" y="51543"/>
                    <a:pt x="7968" y="46441"/>
                  </a:cubicBezTo>
                  <a:cubicBezTo>
                    <a:pt x="2866" y="41339"/>
                    <a:pt x="0" y="34420"/>
                    <a:pt x="0" y="27204"/>
                  </a:cubicBezTo>
                  <a:lnTo>
                    <a:pt x="0" y="27204"/>
                  </a:lnTo>
                  <a:cubicBezTo>
                    <a:pt x="0" y="19989"/>
                    <a:pt x="2866" y="13070"/>
                    <a:pt x="7968" y="7968"/>
                  </a:cubicBezTo>
                  <a:cubicBezTo>
                    <a:pt x="13070" y="2866"/>
                    <a:pt x="19989" y="0"/>
                    <a:pt x="27204" y="0"/>
                  </a:cubicBezTo>
                  <a:close/>
                </a:path>
              </a:pathLst>
            </a:custGeom>
            <a:solidFill>
              <a:srgbClr val="303F9F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793642" cy="92509"/>
            </a:xfrm>
            <a:prstGeom prst="rect">
              <a:avLst/>
            </a:prstGeom>
          </p:spPr>
          <p:txBody>
            <a:bodyPr lIns="44402" tIns="44402" rIns="44402" bIns="44402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 rot="-5400000">
            <a:off x="4975203" y="5709127"/>
            <a:ext cx="664038" cy="640402"/>
            <a:chOff x="0" y="0"/>
            <a:chExt cx="812800" cy="783869"/>
          </a:xfrm>
        </p:grpSpPr>
        <p:sp>
          <p:nvSpPr>
            <p:cNvPr id="38" name="Freeform 3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812800" cy="783869"/>
            </a:xfrm>
            <a:custGeom>
              <a:avLst/>
              <a:gdLst/>
              <a:ahLst/>
              <a:cxnLst/>
              <a:rect l="l" t="t" r="r" b="b"/>
              <a:pathLst>
                <a:path w="812800" h="783869">
                  <a:moveTo>
                    <a:pt x="406400" y="0"/>
                  </a:moveTo>
                  <a:cubicBezTo>
                    <a:pt x="181951" y="0"/>
                    <a:pt x="0" y="175475"/>
                    <a:pt x="0" y="391934"/>
                  </a:cubicBezTo>
                  <a:cubicBezTo>
                    <a:pt x="0" y="608394"/>
                    <a:pt x="181951" y="783869"/>
                    <a:pt x="406400" y="783869"/>
                  </a:cubicBezTo>
                  <a:cubicBezTo>
                    <a:pt x="630849" y="783869"/>
                    <a:pt x="812800" y="608394"/>
                    <a:pt x="812800" y="391934"/>
                  </a:cubicBezTo>
                  <a:cubicBezTo>
                    <a:pt x="812800" y="17547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303F9F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4913"/>
              <a:ext cx="660400" cy="665468"/>
            </a:xfrm>
            <a:prstGeom prst="rect">
              <a:avLst/>
            </a:prstGeom>
          </p:spPr>
          <p:txBody>
            <a:bodyPr lIns="96546" tIns="96546" rIns="96546" bIns="96546" rtlCol="0" anchor="ctr"/>
            <a:lstStyle/>
            <a:p>
              <a:pPr algn="ctr">
                <a:lnSpc>
                  <a:spcPts val="19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0272506" y="1839972"/>
            <a:ext cx="5376377" cy="6779203"/>
            <a:chOff x="0" y="0"/>
            <a:chExt cx="7168502" cy="9038937"/>
          </a:xfrm>
        </p:grpSpPr>
        <p:grpSp>
          <p:nvGrpSpPr>
            <p:cNvPr id="41" name="Group 41"/>
            <p:cNvGrpSpPr/>
            <p:nvPr/>
          </p:nvGrpSpPr>
          <p:grpSpPr>
            <a:xfrm rot="-5400000">
              <a:off x="3129071" y="-2828434"/>
              <a:ext cx="1156244" cy="6922618"/>
              <a:chOff x="0" y="0"/>
              <a:chExt cx="245973" cy="1472680"/>
            </a:xfrm>
          </p:grpSpPr>
          <p:sp>
            <p:nvSpPr>
              <p:cNvPr id="42" name="Freeform 4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0" y="0"/>
                <a:ext cx="245973" cy="1472680"/>
              </a:xfrm>
              <a:custGeom>
                <a:avLst/>
                <a:gdLst/>
                <a:ahLst/>
                <a:cxnLst/>
                <a:rect l="l" t="t" r="r" b="b"/>
                <a:pathLst>
                  <a:path w="245973" h="1472680">
                    <a:moveTo>
                      <a:pt x="82035" y="1453611"/>
                    </a:moveTo>
                    <a:cubicBezTo>
                      <a:pt x="94646" y="1465125"/>
                      <a:pt x="108982" y="1472680"/>
                      <a:pt x="123053" y="1472680"/>
                    </a:cubicBezTo>
                    <a:cubicBezTo>
                      <a:pt x="137124" y="1472680"/>
                      <a:pt x="150664" y="1466203"/>
                      <a:pt x="163141" y="1454689"/>
                    </a:cubicBezTo>
                    <a:cubicBezTo>
                      <a:pt x="163407" y="1454329"/>
                      <a:pt x="163672" y="1454329"/>
                      <a:pt x="163938" y="1453970"/>
                    </a:cubicBezTo>
                    <a:cubicBezTo>
                      <a:pt x="210796" y="1407915"/>
                      <a:pt x="245309" y="1286301"/>
                      <a:pt x="245973" y="1129520"/>
                    </a:cubicBezTo>
                    <a:lnTo>
                      <a:pt x="245973" y="0"/>
                    </a:lnTo>
                    <a:lnTo>
                      <a:pt x="0" y="0"/>
                    </a:lnTo>
                    <a:lnTo>
                      <a:pt x="0" y="1128682"/>
                    </a:lnTo>
                    <a:cubicBezTo>
                      <a:pt x="664" y="1287020"/>
                      <a:pt x="34646" y="1408635"/>
                      <a:pt x="82035" y="1453611"/>
                    </a:cubicBezTo>
                    <a:close/>
                  </a:path>
                </a:pathLst>
              </a:custGeom>
              <a:solidFill>
                <a:srgbClr val="E5E5E5"/>
              </a:solidFill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0" y="38100"/>
                <a:ext cx="245973" cy="1307580"/>
              </a:xfrm>
              <a:prstGeom prst="rect">
                <a:avLst/>
              </a:prstGeom>
            </p:spPr>
            <p:txBody>
              <a:bodyPr lIns="44402" tIns="44402" rIns="44402" bIns="44402" rtlCol="0" anchor="ctr"/>
              <a:lstStyle/>
              <a:p>
                <a:pPr algn="ctr">
                  <a:lnSpc>
                    <a:spcPts val="1439"/>
                  </a:lnSpc>
                </a:pPr>
                <a:endParaRPr/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 rot="-5400000">
              <a:off x="3129071" y="-1542924"/>
              <a:ext cx="1156244" cy="6922618"/>
              <a:chOff x="0" y="0"/>
              <a:chExt cx="245973" cy="1472680"/>
            </a:xfrm>
          </p:grpSpPr>
          <p:sp>
            <p:nvSpPr>
              <p:cNvPr id="45" name="Freeform 4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0" y="0"/>
                <a:ext cx="245973" cy="1472680"/>
              </a:xfrm>
              <a:custGeom>
                <a:avLst/>
                <a:gdLst/>
                <a:ahLst/>
                <a:cxnLst/>
                <a:rect l="l" t="t" r="r" b="b"/>
                <a:pathLst>
                  <a:path w="245973" h="1472680">
                    <a:moveTo>
                      <a:pt x="82035" y="1453611"/>
                    </a:moveTo>
                    <a:cubicBezTo>
                      <a:pt x="94646" y="1465125"/>
                      <a:pt x="108982" y="1472680"/>
                      <a:pt x="123053" y="1472680"/>
                    </a:cubicBezTo>
                    <a:cubicBezTo>
                      <a:pt x="137124" y="1472680"/>
                      <a:pt x="150664" y="1466203"/>
                      <a:pt x="163141" y="1454689"/>
                    </a:cubicBezTo>
                    <a:cubicBezTo>
                      <a:pt x="163407" y="1454329"/>
                      <a:pt x="163672" y="1454329"/>
                      <a:pt x="163938" y="1453970"/>
                    </a:cubicBezTo>
                    <a:cubicBezTo>
                      <a:pt x="210796" y="1407915"/>
                      <a:pt x="245309" y="1286301"/>
                      <a:pt x="245973" y="1129520"/>
                    </a:cubicBezTo>
                    <a:lnTo>
                      <a:pt x="245973" y="0"/>
                    </a:lnTo>
                    <a:lnTo>
                      <a:pt x="0" y="0"/>
                    </a:lnTo>
                    <a:lnTo>
                      <a:pt x="0" y="1128682"/>
                    </a:lnTo>
                    <a:cubicBezTo>
                      <a:pt x="664" y="1287020"/>
                      <a:pt x="34646" y="1408635"/>
                      <a:pt x="82035" y="1453611"/>
                    </a:cubicBezTo>
                    <a:close/>
                  </a:path>
                </a:pathLst>
              </a:custGeom>
              <a:solidFill>
                <a:srgbClr val="E5E5E5"/>
              </a:solidFill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0" y="38100"/>
                <a:ext cx="245973" cy="1307580"/>
              </a:xfrm>
              <a:prstGeom prst="rect">
                <a:avLst/>
              </a:prstGeom>
            </p:spPr>
            <p:txBody>
              <a:bodyPr lIns="44402" tIns="44402" rIns="44402" bIns="44402" rtlCol="0" anchor="ctr"/>
              <a:lstStyle/>
              <a:p>
                <a:pPr algn="ctr">
                  <a:lnSpc>
                    <a:spcPts val="1439"/>
                  </a:lnSpc>
                </a:pPr>
                <a:endParaRPr/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 rot="-5400000">
              <a:off x="3129071" y="-240014"/>
              <a:ext cx="1156244" cy="6922618"/>
              <a:chOff x="0" y="0"/>
              <a:chExt cx="245973" cy="1472680"/>
            </a:xfrm>
          </p:grpSpPr>
          <p:sp>
            <p:nvSpPr>
              <p:cNvPr id="48" name="Freeform 4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0" y="0"/>
                <a:ext cx="245973" cy="1472680"/>
              </a:xfrm>
              <a:custGeom>
                <a:avLst/>
                <a:gdLst/>
                <a:ahLst/>
                <a:cxnLst/>
                <a:rect l="l" t="t" r="r" b="b"/>
                <a:pathLst>
                  <a:path w="245973" h="1472680">
                    <a:moveTo>
                      <a:pt x="82035" y="1453611"/>
                    </a:moveTo>
                    <a:cubicBezTo>
                      <a:pt x="94646" y="1465125"/>
                      <a:pt x="108982" y="1472680"/>
                      <a:pt x="123053" y="1472680"/>
                    </a:cubicBezTo>
                    <a:cubicBezTo>
                      <a:pt x="137124" y="1472680"/>
                      <a:pt x="150664" y="1466203"/>
                      <a:pt x="163141" y="1454689"/>
                    </a:cubicBezTo>
                    <a:cubicBezTo>
                      <a:pt x="163407" y="1454329"/>
                      <a:pt x="163672" y="1454329"/>
                      <a:pt x="163938" y="1453970"/>
                    </a:cubicBezTo>
                    <a:cubicBezTo>
                      <a:pt x="210796" y="1407915"/>
                      <a:pt x="245309" y="1286301"/>
                      <a:pt x="245973" y="1129520"/>
                    </a:cubicBezTo>
                    <a:lnTo>
                      <a:pt x="245973" y="0"/>
                    </a:lnTo>
                    <a:lnTo>
                      <a:pt x="0" y="0"/>
                    </a:lnTo>
                    <a:lnTo>
                      <a:pt x="0" y="1128682"/>
                    </a:lnTo>
                    <a:cubicBezTo>
                      <a:pt x="664" y="1287020"/>
                      <a:pt x="34646" y="1408635"/>
                      <a:pt x="82035" y="1453611"/>
                    </a:cubicBezTo>
                    <a:close/>
                  </a:path>
                </a:pathLst>
              </a:custGeom>
              <a:solidFill>
                <a:srgbClr val="E5E5E5"/>
              </a:solidFill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0" y="38100"/>
                <a:ext cx="245973" cy="1307580"/>
              </a:xfrm>
              <a:prstGeom prst="rect">
                <a:avLst/>
              </a:prstGeom>
            </p:spPr>
            <p:txBody>
              <a:bodyPr lIns="44402" tIns="44402" rIns="44402" bIns="44402" rtlCol="0" anchor="ctr"/>
              <a:lstStyle/>
              <a:p>
                <a:pPr algn="ctr">
                  <a:lnSpc>
                    <a:spcPts val="1439"/>
                  </a:lnSpc>
                </a:pPr>
                <a:endParaRPr/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 rot="-5400000">
              <a:off x="3129071" y="1028096"/>
              <a:ext cx="1156244" cy="6922618"/>
              <a:chOff x="0" y="0"/>
              <a:chExt cx="245973" cy="1472680"/>
            </a:xfrm>
          </p:grpSpPr>
          <p:sp>
            <p:nvSpPr>
              <p:cNvPr id="51" name="Freeform 5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0" y="0"/>
                <a:ext cx="245973" cy="1472680"/>
              </a:xfrm>
              <a:custGeom>
                <a:avLst/>
                <a:gdLst/>
                <a:ahLst/>
                <a:cxnLst/>
                <a:rect l="l" t="t" r="r" b="b"/>
                <a:pathLst>
                  <a:path w="245973" h="1472680">
                    <a:moveTo>
                      <a:pt x="82035" y="1453611"/>
                    </a:moveTo>
                    <a:cubicBezTo>
                      <a:pt x="94646" y="1465125"/>
                      <a:pt x="108982" y="1472680"/>
                      <a:pt x="123053" y="1472680"/>
                    </a:cubicBezTo>
                    <a:cubicBezTo>
                      <a:pt x="137124" y="1472680"/>
                      <a:pt x="150664" y="1466203"/>
                      <a:pt x="163141" y="1454689"/>
                    </a:cubicBezTo>
                    <a:cubicBezTo>
                      <a:pt x="163407" y="1454329"/>
                      <a:pt x="163672" y="1454329"/>
                      <a:pt x="163938" y="1453970"/>
                    </a:cubicBezTo>
                    <a:cubicBezTo>
                      <a:pt x="210796" y="1407915"/>
                      <a:pt x="245309" y="1286301"/>
                      <a:pt x="245973" y="1129520"/>
                    </a:cubicBezTo>
                    <a:lnTo>
                      <a:pt x="245973" y="0"/>
                    </a:lnTo>
                    <a:lnTo>
                      <a:pt x="0" y="0"/>
                    </a:lnTo>
                    <a:lnTo>
                      <a:pt x="0" y="1128682"/>
                    </a:lnTo>
                    <a:cubicBezTo>
                      <a:pt x="664" y="1287020"/>
                      <a:pt x="34646" y="1408635"/>
                      <a:pt x="82035" y="1453611"/>
                    </a:cubicBezTo>
                    <a:close/>
                  </a:path>
                </a:pathLst>
              </a:custGeom>
              <a:solidFill>
                <a:srgbClr val="E5E5E5"/>
              </a:solidFill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0" y="38100"/>
                <a:ext cx="245973" cy="1307580"/>
              </a:xfrm>
              <a:prstGeom prst="rect">
                <a:avLst/>
              </a:prstGeom>
            </p:spPr>
            <p:txBody>
              <a:bodyPr lIns="44402" tIns="44402" rIns="44402" bIns="44402" rtlCol="0" anchor="ctr"/>
              <a:lstStyle/>
              <a:p>
                <a:pPr algn="ctr">
                  <a:lnSpc>
                    <a:spcPts val="1439"/>
                  </a:lnSpc>
                </a:pPr>
                <a:endParaRPr/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 rot="-5400000">
              <a:off x="3129071" y="2313606"/>
              <a:ext cx="1156244" cy="6922618"/>
              <a:chOff x="0" y="0"/>
              <a:chExt cx="245973" cy="1472680"/>
            </a:xfrm>
          </p:grpSpPr>
          <p:sp>
            <p:nvSpPr>
              <p:cNvPr id="54" name="Freeform 5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0" y="0"/>
                <a:ext cx="245973" cy="1472680"/>
              </a:xfrm>
              <a:custGeom>
                <a:avLst/>
                <a:gdLst/>
                <a:ahLst/>
                <a:cxnLst/>
                <a:rect l="l" t="t" r="r" b="b"/>
                <a:pathLst>
                  <a:path w="245973" h="1472680">
                    <a:moveTo>
                      <a:pt x="82035" y="1453611"/>
                    </a:moveTo>
                    <a:cubicBezTo>
                      <a:pt x="94646" y="1465125"/>
                      <a:pt x="108982" y="1472680"/>
                      <a:pt x="123053" y="1472680"/>
                    </a:cubicBezTo>
                    <a:cubicBezTo>
                      <a:pt x="137124" y="1472680"/>
                      <a:pt x="150664" y="1466203"/>
                      <a:pt x="163141" y="1454689"/>
                    </a:cubicBezTo>
                    <a:cubicBezTo>
                      <a:pt x="163407" y="1454329"/>
                      <a:pt x="163672" y="1454329"/>
                      <a:pt x="163938" y="1453970"/>
                    </a:cubicBezTo>
                    <a:cubicBezTo>
                      <a:pt x="210796" y="1407915"/>
                      <a:pt x="245309" y="1286301"/>
                      <a:pt x="245973" y="1129520"/>
                    </a:cubicBezTo>
                    <a:lnTo>
                      <a:pt x="245973" y="0"/>
                    </a:lnTo>
                    <a:lnTo>
                      <a:pt x="0" y="0"/>
                    </a:lnTo>
                    <a:lnTo>
                      <a:pt x="0" y="1128682"/>
                    </a:lnTo>
                    <a:cubicBezTo>
                      <a:pt x="664" y="1287020"/>
                      <a:pt x="34646" y="1408635"/>
                      <a:pt x="82035" y="1453611"/>
                    </a:cubicBezTo>
                    <a:close/>
                  </a:path>
                </a:pathLst>
              </a:custGeom>
              <a:solidFill>
                <a:srgbClr val="E5E5E5"/>
              </a:solidFill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0" y="38100"/>
                <a:ext cx="245973" cy="1307580"/>
              </a:xfrm>
              <a:prstGeom prst="rect">
                <a:avLst/>
              </a:prstGeom>
            </p:spPr>
            <p:txBody>
              <a:bodyPr lIns="44402" tIns="44402" rIns="44402" bIns="44402" rtlCol="0" anchor="ctr"/>
              <a:lstStyle/>
              <a:p>
                <a:pPr algn="ctr">
                  <a:lnSpc>
                    <a:spcPts val="1439"/>
                  </a:lnSpc>
                </a:pPr>
                <a:endParaRPr/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 rot="-5400000">
              <a:off x="3129071" y="3599116"/>
              <a:ext cx="1156244" cy="6922618"/>
              <a:chOff x="0" y="0"/>
              <a:chExt cx="245973" cy="1472680"/>
            </a:xfrm>
          </p:grpSpPr>
          <p:sp>
            <p:nvSpPr>
              <p:cNvPr id="57" name="Freeform 5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0" y="0"/>
                <a:ext cx="245973" cy="1472680"/>
              </a:xfrm>
              <a:custGeom>
                <a:avLst/>
                <a:gdLst/>
                <a:ahLst/>
                <a:cxnLst/>
                <a:rect l="l" t="t" r="r" b="b"/>
                <a:pathLst>
                  <a:path w="245973" h="1472680">
                    <a:moveTo>
                      <a:pt x="82035" y="1453611"/>
                    </a:moveTo>
                    <a:cubicBezTo>
                      <a:pt x="94646" y="1465125"/>
                      <a:pt x="108982" y="1472680"/>
                      <a:pt x="123053" y="1472680"/>
                    </a:cubicBezTo>
                    <a:cubicBezTo>
                      <a:pt x="137124" y="1472680"/>
                      <a:pt x="150664" y="1466203"/>
                      <a:pt x="163141" y="1454689"/>
                    </a:cubicBezTo>
                    <a:cubicBezTo>
                      <a:pt x="163407" y="1454329"/>
                      <a:pt x="163672" y="1454329"/>
                      <a:pt x="163938" y="1453970"/>
                    </a:cubicBezTo>
                    <a:cubicBezTo>
                      <a:pt x="210796" y="1407915"/>
                      <a:pt x="245309" y="1286301"/>
                      <a:pt x="245973" y="1129520"/>
                    </a:cubicBezTo>
                    <a:lnTo>
                      <a:pt x="245973" y="0"/>
                    </a:lnTo>
                    <a:lnTo>
                      <a:pt x="0" y="0"/>
                    </a:lnTo>
                    <a:lnTo>
                      <a:pt x="0" y="1128682"/>
                    </a:lnTo>
                    <a:cubicBezTo>
                      <a:pt x="664" y="1287020"/>
                      <a:pt x="34646" y="1408635"/>
                      <a:pt x="82035" y="1453611"/>
                    </a:cubicBezTo>
                    <a:close/>
                  </a:path>
                </a:pathLst>
              </a:custGeom>
              <a:solidFill>
                <a:srgbClr val="E5E5E5"/>
              </a:solidFill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0" y="38100"/>
                <a:ext cx="245973" cy="1307580"/>
              </a:xfrm>
              <a:prstGeom prst="rect">
                <a:avLst/>
              </a:prstGeom>
            </p:spPr>
            <p:txBody>
              <a:bodyPr lIns="44402" tIns="44402" rIns="44402" bIns="44402" rtlCol="0" anchor="ctr"/>
              <a:lstStyle/>
              <a:p>
                <a:pPr algn="ctr">
                  <a:lnSpc>
                    <a:spcPts val="1439"/>
                  </a:lnSpc>
                </a:pPr>
                <a:endParaRPr/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 rot="5400000">
              <a:off x="-4396527" y="4396527"/>
              <a:ext cx="9038937" cy="245883"/>
              <a:chOff x="0" y="0"/>
              <a:chExt cx="1849880" cy="50322"/>
            </a:xfrm>
          </p:grpSpPr>
          <p:sp>
            <p:nvSpPr>
              <p:cNvPr id="60" name="Freeform 6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0" y="0"/>
                <a:ext cx="1849880" cy="50322"/>
              </a:xfrm>
              <a:custGeom>
                <a:avLst/>
                <a:gdLst/>
                <a:ahLst/>
                <a:cxnLst/>
                <a:rect l="l" t="t" r="r" b="b"/>
                <a:pathLst>
                  <a:path w="1849880" h="50322">
                    <a:moveTo>
                      <a:pt x="25161" y="0"/>
                    </a:moveTo>
                    <a:lnTo>
                      <a:pt x="1824719" y="0"/>
                    </a:lnTo>
                    <a:cubicBezTo>
                      <a:pt x="1838615" y="0"/>
                      <a:pt x="1849880" y="11265"/>
                      <a:pt x="1849880" y="25161"/>
                    </a:cubicBezTo>
                    <a:lnTo>
                      <a:pt x="1849880" y="25161"/>
                    </a:lnTo>
                    <a:cubicBezTo>
                      <a:pt x="1849880" y="31834"/>
                      <a:pt x="1847229" y="38234"/>
                      <a:pt x="1842511" y="42952"/>
                    </a:cubicBezTo>
                    <a:cubicBezTo>
                      <a:pt x="1837792" y="47671"/>
                      <a:pt x="1831392" y="50322"/>
                      <a:pt x="1824719" y="50322"/>
                    </a:cubicBezTo>
                    <a:lnTo>
                      <a:pt x="25161" y="50322"/>
                    </a:lnTo>
                    <a:cubicBezTo>
                      <a:pt x="11265" y="50322"/>
                      <a:pt x="0" y="39057"/>
                      <a:pt x="0" y="25161"/>
                    </a:cubicBezTo>
                    <a:lnTo>
                      <a:pt x="0" y="25161"/>
                    </a:lnTo>
                    <a:cubicBezTo>
                      <a:pt x="0" y="11265"/>
                      <a:pt x="11265" y="0"/>
                      <a:pt x="25161" y="0"/>
                    </a:cubicBezTo>
                    <a:close/>
                  </a:path>
                </a:pathLst>
              </a:custGeom>
              <a:solidFill>
                <a:srgbClr val="303F9F"/>
              </a:solidFill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0" y="-38100"/>
                <a:ext cx="1849880" cy="884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2" name="TextBox 62"/>
            <p:cNvSpPr txBox="1"/>
            <p:nvPr/>
          </p:nvSpPr>
          <p:spPr>
            <a:xfrm>
              <a:off x="418611" y="356029"/>
              <a:ext cx="1704753" cy="4687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72"/>
                </a:lnSpc>
                <a:spcBef>
                  <a:spcPct val="0"/>
                </a:spcBef>
              </a:pPr>
              <a:r>
                <a:rPr lang="en-US" sz="212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Front End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77985" y="1641539"/>
              <a:ext cx="1586006" cy="4687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72"/>
                </a:lnSpc>
                <a:spcBef>
                  <a:spcPct val="0"/>
                </a:spcBef>
              </a:pPr>
              <a:r>
                <a:rPr lang="en-US" sz="212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Back End</a:t>
              </a:r>
            </a:p>
          </p:txBody>
        </p:sp>
        <p:sp>
          <p:nvSpPr>
            <p:cNvPr id="64" name="Freeform 64"/>
            <p:cNvSpPr/>
            <p:nvPr/>
          </p:nvSpPr>
          <p:spPr>
            <a:xfrm>
              <a:off x="3368190" y="1226026"/>
              <a:ext cx="1056862" cy="1306827"/>
            </a:xfrm>
            <a:custGeom>
              <a:avLst/>
              <a:gdLst/>
              <a:ahLst/>
              <a:cxnLst/>
              <a:rect l="l" t="t" r="r" b="b"/>
              <a:pathLst>
                <a:path w="1056862" h="1306827">
                  <a:moveTo>
                    <a:pt x="0" y="0"/>
                  </a:moveTo>
                  <a:lnTo>
                    <a:pt x="1056862" y="0"/>
                  </a:lnTo>
                  <a:lnTo>
                    <a:pt x="1056862" y="1306827"/>
                  </a:lnTo>
                  <a:lnTo>
                    <a:pt x="0" y="130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0643" r="-50454"/>
              </a:stretch>
            </a:blipFill>
          </p:spPr>
        </p:sp>
        <p:sp>
          <p:nvSpPr>
            <p:cNvPr id="65" name="Freeform 65"/>
            <p:cNvSpPr/>
            <p:nvPr/>
          </p:nvSpPr>
          <p:spPr>
            <a:xfrm>
              <a:off x="2469973" y="1495055"/>
              <a:ext cx="861443" cy="861443"/>
            </a:xfrm>
            <a:custGeom>
              <a:avLst/>
              <a:gdLst/>
              <a:ahLst/>
              <a:cxnLst/>
              <a:rect l="l" t="t" r="r" b="b"/>
              <a:pathLst>
                <a:path w="861443" h="861443">
                  <a:moveTo>
                    <a:pt x="0" y="0"/>
                  </a:moveTo>
                  <a:lnTo>
                    <a:pt x="861444" y="0"/>
                  </a:lnTo>
                  <a:lnTo>
                    <a:pt x="861444" y="861443"/>
                  </a:lnTo>
                  <a:lnTo>
                    <a:pt x="0" y="8614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477985" y="2944448"/>
              <a:ext cx="1600715" cy="4687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72"/>
                </a:lnSpc>
                <a:spcBef>
                  <a:spcPct val="0"/>
                </a:spcBef>
              </a:pPr>
              <a:r>
                <a:rPr lang="en-US" sz="212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AI Engine</a:t>
              </a:r>
            </a:p>
          </p:txBody>
        </p:sp>
        <p:sp>
          <p:nvSpPr>
            <p:cNvPr id="67" name="Freeform 67"/>
            <p:cNvSpPr/>
            <p:nvPr/>
          </p:nvSpPr>
          <p:spPr>
            <a:xfrm>
              <a:off x="2412648" y="2592135"/>
              <a:ext cx="1260308" cy="1240304"/>
            </a:xfrm>
            <a:custGeom>
              <a:avLst/>
              <a:gdLst/>
              <a:ahLst/>
              <a:cxnLst/>
              <a:rect l="l" t="t" r="r" b="b"/>
              <a:pathLst>
                <a:path w="1260308" h="1240304">
                  <a:moveTo>
                    <a:pt x="0" y="0"/>
                  </a:moveTo>
                  <a:lnTo>
                    <a:pt x="1260309" y="0"/>
                  </a:lnTo>
                  <a:lnTo>
                    <a:pt x="1260309" y="1240303"/>
                  </a:lnTo>
                  <a:lnTo>
                    <a:pt x="0" y="1240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418609" y="4173967"/>
              <a:ext cx="1820132" cy="47842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972"/>
                </a:lnSpc>
                <a:spcBef>
                  <a:spcPct val="0"/>
                </a:spcBef>
              </a:pPr>
              <a:r>
                <a:rPr lang="en-US" sz="2123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Database</a:t>
              </a:r>
            </a:p>
          </p:txBody>
        </p:sp>
        <p:sp>
          <p:nvSpPr>
            <p:cNvPr id="69" name="Freeform 69"/>
            <p:cNvSpPr/>
            <p:nvPr/>
          </p:nvSpPr>
          <p:spPr>
            <a:xfrm>
              <a:off x="2424905" y="3993752"/>
              <a:ext cx="1030871" cy="1030871"/>
            </a:xfrm>
            <a:custGeom>
              <a:avLst/>
              <a:gdLst/>
              <a:ahLst/>
              <a:cxnLst/>
              <a:rect l="l" t="t" r="r" b="b"/>
              <a:pathLst>
                <a:path w="1030871" h="1030871">
                  <a:moveTo>
                    <a:pt x="0" y="0"/>
                  </a:moveTo>
                  <a:lnTo>
                    <a:pt x="1030871" y="0"/>
                  </a:lnTo>
                  <a:lnTo>
                    <a:pt x="1030871" y="1030871"/>
                  </a:lnTo>
                  <a:lnTo>
                    <a:pt x="0" y="1030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391951" y="5493569"/>
              <a:ext cx="1731413" cy="47842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972"/>
                </a:lnSpc>
                <a:spcBef>
                  <a:spcPct val="0"/>
                </a:spcBef>
              </a:pPr>
              <a:r>
                <a:rPr lang="en-US" sz="2123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Hardware</a:t>
              </a:r>
            </a:p>
          </p:txBody>
        </p:sp>
        <p:sp>
          <p:nvSpPr>
            <p:cNvPr id="71" name="Freeform 71"/>
            <p:cNvSpPr/>
            <p:nvPr/>
          </p:nvSpPr>
          <p:spPr>
            <a:xfrm>
              <a:off x="2412648" y="5349456"/>
              <a:ext cx="915472" cy="832644"/>
            </a:xfrm>
            <a:custGeom>
              <a:avLst/>
              <a:gdLst/>
              <a:ahLst/>
              <a:cxnLst/>
              <a:rect l="l" t="t" r="r" b="b"/>
              <a:pathLst>
                <a:path w="915472" h="832644">
                  <a:moveTo>
                    <a:pt x="0" y="0"/>
                  </a:moveTo>
                  <a:lnTo>
                    <a:pt x="915472" y="0"/>
                  </a:lnTo>
                  <a:lnTo>
                    <a:pt x="915472" y="832644"/>
                  </a:lnTo>
                  <a:lnTo>
                    <a:pt x="0" y="8326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sp>
          <p:nvSpPr>
            <p:cNvPr id="72" name="Freeform 72"/>
            <p:cNvSpPr/>
            <p:nvPr/>
          </p:nvSpPr>
          <p:spPr>
            <a:xfrm>
              <a:off x="3713850" y="5397237"/>
              <a:ext cx="703578" cy="737082"/>
            </a:xfrm>
            <a:custGeom>
              <a:avLst/>
              <a:gdLst/>
              <a:ahLst/>
              <a:cxnLst/>
              <a:rect l="l" t="t" r="r" b="b"/>
              <a:pathLst>
                <a:path w="703578" h="737082">
                  <a:moveTo>
                    <a:pt x="0" y="0"/>
                  </a:moveTo>
                  <a:lnTo>
                    <a:pt x="703578" y="0"/>
                  </a:lnTo>
                  <a:lnTo>
                    <a:pt x="703578" y="737082"/>
                  </a:lnTo>
                  <a:lnTo>
                    <a:pt x="0" y="7370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477985" y="6842022"/>
              <a:ext cx="1419214" cy="4687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72"/>
                </a:lnSpc>
                <a:spcBef>
                  <a:spcPct val="0"/>
                </a:spcBef>
              </a:pPr>
              <a:r>
                <a:rPr lang="en-US" sz="212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Dataset</a:t>
              </a:r>
            </a:p>
          </p:txBody>
        </p:sp>
        <p:grpSp>
          <p:nvGrpSpPr>
            <p:cNvPr id="74" name="Group 74"/>
            <p:cNvGrpSpPr/>
            <p:nvPr/>
          </p:nvGrpSpPr>
          <p:grpSpPr>
            <a:xfrm rot="-5400000">
              <a:off x="3129071" y="4890195"/>
              <a:ext cx="1156244" cy="6922618"/>
              <a:chOff x="0" y="0"/>
              <a:chExt cx="245973" cy="1472680"/>
            </a:xfrm>
          </p:grpSpPr>
          <p:sp>
            <p:nvSpPr>
              <p:cNvPr id="75" name="Freeform 7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0" y="0"/>
                <a:ext cx="245973" cy="1472680"/>
              </a:xfrm>
              <a:custGeom>
                <a:avLst/>
                <a:gdLst/>
                <a:ahLst/>
                <a:cxnLst/>
                <a:rect l="l" t="t" r="r" b="b"/>
                <a:pathLst>
                  <a:path w="245973" h="1472680">
                    <a:moveTo>
                      <a:pt x="82035" y="1453611"/>
                    </a:moveTo>
                    <a:cubicBezTo>
                      <a:pt x="94646" y="1465125"/>
                      <a:pt x="108982" y="1472680"/>
                      <a:pt x="123053" y="1472680"/>
                    </a:cubicBezTo>
                    <a:cubicBezTo>
                      <a:pt x="137124" y="1472680"/>
                      <a:pt x="150664" y="1466203"/>
                      <a:pt x="163141" y="1454689"/>
                    </a:cubicBezTo>
                    <a:cubicBezTo>
                      <a:pt x="163407" y="1454329"/>
                      <a:pt x="163672" y="1454329"/>
                      <a:pt x="163938" y="1453970"/>
                    </a:cubicBezTo>
                    <a:cubicBezTo>
                      <a:pt x="210796" y="1407915"/>
                      <a:pt x="245309" y="1286301"/>
                      <a:pt x="245973" y="1129520"/>
                    </a:cubicBezTo>
                    <a:lnTo>
                      <a:pt x="245973" y="0"/>
                    </a:lnTo>
                    <a:lnTo>
                      <a:pt x="0" y="0"/>
                    </a:lnTo>
                    <a:lnTo>
                      <a:pt x="0" y="1128682"/>
                    </a:lnTo>
                    <a:cubicBezTo>
                      <a:pt x="664" y="1287020"/>
                      <a:pt x="34646" y="1408635"/>
                      <a:pt x="82035" y="1453611"/>
                    </a:cubicBezTo>
                    <a:close/>
                  </a:path>
                </a:pathLst>
              </a:custGeom>
              <a:solidFill>
                <a:srgbClr val="E5E5E5"/>
              </a:solidFill>
            </p:spPr>
          </p:sp>
          <p:sp>
            <p:nvSpPr>
              <p:cNvPr id="76" name="TextBox 76"/>
              <p:cNvSpPr txBox="1"/>
              <p:nvPr/>
            </p:nvSpPr>
            <p:spPr>
              <a:xfrm>
                <a:off x="0" y="38100"/>
                <a:ext cx="245973" cy="1307580"/>
              </a:xfrm>
              <a:prstGeom prst="rect">
                <a:avLst/>
              </a:prstGeom>
            </p:spPr>
            <p:txBody>
              <a:bodyPr lIns="44402" tIns="44402" rIns="44402" bIns="44402" rtlCol="0" anchor="ctr"/>
              <a:lstStyle/>
              <a:p>
                <a:pPr algn="ctr">
                  <a:lnSpc>
                    <a:spcPts val="1439"/>
                  </a:lnSpc>
                </a:pPr>
                <a:endParaRPr/>
              </a:p>
            </p:txBody>
          </p:sp>
        </p:grpSp>
        <p:sp>
          <p:nvSpPr>
            <p:cNvPr id="77" name="TextBox 77"/>
            <p:cNvSpPr txBox="1"/>
            <p:nvPr/>
          </p:nvSpPr>
          <p:spPr>
            <a:xfrm>
              <a:off x="418611" y="8134913"/>
              <a:ext cx="1187014" cy="4687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72"/>
                </a:lnSpc>
                <a:spcBef>
                  <a:spcPct val="0"/>
                </a:spcBef>
              </a:pPr>
              <a:r>
                <a:rPr lang="en-US" sz="212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Tools</a:t>
              </a:r>
            </a:p>
          </p:txBody>
        </p:sp>
        <p:sp>
          <p:nvSpPr>
            <p:cNvPr id="78" name="Freeform 78"/>
            <p:cNvSpPr/>
            <p:nvPr/>
          </p:nvSpPr>
          <p:spPr>
            <a:xfrm>
              <a:off x="2434067" y="7969507"/>
              <a:ext cx="753887" cy="753887"/>
            </a:xfrm>
            <a:custGeom>
              <a:avLst/>
              <a:gdLst/>
              <a:ahLst/>
              <a:cxnLst/>
              <a:rect l="l" t="t" r="r" b="b"/>
              <a:pathLst>
                <a:path w="753887" h="753887">
                  <a:moveTo>
                    <a:pt x="0" y="0"/>
                  </a:moveTo>
                  <a:lnTo>
                    <a:pt x="753887" y="0"/>
                  </a:lnTo>
                  <a:lnTo>
                    <a:pt x="753887" y="753887"/>
                  </a:lnTo>
                  <a:lnTo>
                    <a:pt x="0" y="7538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  <p:sp>
          <p:nvSpPr>
            <p:cNvPr id="79" name="Freeform 79"/>
            <p:cNvSpPr/>
            <p:nvPr/>
          </p:nvSpPr>
          <p:spPr>
            <a:xfrm>
              <a:off x="3654476" y="8108337"/>
              <a:ext cx="573258" cy="573258"/>
            </a:xfrm>
            <a:custGeom>
              <a:avLst/>
              <a:gdLst/>
              <a:ahLst/>
              <a:cxnLst/>
              <a:rect l="l" t="t" r="r" b="b"/>
              <a:pathLst>
                <a:path w="573258" h="573258">
                  <a:moveTo>
                    <a:pt x="0" y="0"/>
                  </a:moveTo>
                  <a:lnTo>
                    <a:pt x="573258" y="0"/>
                  </a:lnTo>
                  <a:lnTo>
                    <a:pt x="573258" y="573258"/>
                  </a:lnTo>
                  <a:lnTo>
                    <a:pt x="0" y="5732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  <p:sp>
          <p:nvSpPr>
            <p:cNvPr id="80" name="TextBox 80"/>
            <p:cNvSpPr txBox="1"/>
            <p:nvPr/>
          </p:nvSpPr>
          <p:spPr>
            <a:xfrm>
              <a:off x="2412648" y="6842022"/>
              <a:ext cx="4332840" cy="4614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72"/>
                </a:lnSpc>
                <a:spcBef>
                  <a:spcPct val="0"/>
                </a:spcBef>
              </a:pPr>
              <a:r>
                <a:rPr lang="en-US" sz="212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Roboflow Chess Dataset</a:t>
              </a:r>
            </a:p>
          </p:txBody>
        </p:sp>
        <p:sp>
          <p:nvSpPr>
            <p:cNvPr id="81" name="Freeform 81"/>
            <p:cNvSpPr/>
            <p:nvPr/>
          </p:nvSpPr>
          <p:spPr>
            <a:xfrm>
              <a:off x="2424905" y="202154"/>
              <a:ext cx="861443" cy="861443"/>
            </a:xfrm>
            <a:custGeom>
              <a:avLst/>
              <a:gdLst/>
              <a:ahLst/>
              <a:cxnLst/>
              <a:rect l="l" t="t" r="r" b="b"/>
              <a:pathLst>
                <a:path w="861443" h="861443">
                  <a:moveTo>
                    <a:pt x="0" y="0"/>
                  </a:moveTo>
                  <a:lnTo>
                    <a:pt x="861443" y="0"/>
                  </a:lnTo>
                  <a:lnTo>
                    <a:pt x="861443" y="861443"/>
                  </a:lnTo>
                  <a:lnTo>
                    <a:pt x="0" y="8614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82" name="Freeform 82"/>
          <p:cNvSpPr/>
          <p:nvPr/>
        </p:nvSpPr>
        <p:spPr>
          <a:xfrm>
            <a:off x="12973430" y="1993415"/>
            <a:ext cx="704203" cy="664761"/>
          </a:xfrm>
          <a:custGeom>
            <a:avLst/>
            <a:gdLst/>
            <a:ahLst/>
            <a:cxnLst/>
            <a:rect l="l" t="t" r="r" b="b"/>
            <a:pathLst>
              <a:path w="704203" h="664761">
                <a:moveTo>
                  <a:pt x="0" y="0"/>
                </a:moveTo>
                <a:lnTo>
                  <a:pt x="704203" y="0"/>
                </a:lnTo>
                <a:lnTo>
                  <a:pt x="704203" y="664761"/>
                </a:lnTo>
                <a:lnTo>
                  <a:pt x="0" y="66476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34252" t="-16336" r="-32225" b="-15930"/>
            </a:stretch>
          </a:blipFill>
        </p:spPr>
      </p:sp>
      <p:sp>
        <p:nvSpPr>
          <p:cNvPr id="83" name="TextBox 83"/>
          <p:cNvSpPr txBox="1"/>
          <p:nvPr/>
        </p:nvSpPr>
        <p:spPr>
          <a:xfrm>
            <a:off x="283958" y="452447"/>
            <a:ext cx="8319995" cy="93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Feasibility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10819718" y="527768"/>
            <a:ext cx="4307423" cy="93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Tech Stack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172397" y="2622064"/>
            <a:ext cx="2291707" cy="256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6"/>
              </a:lnSpc>
            </a:pPr>
            <a:r>
              <a:rPr lang="en-US" sz="1697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Technical Feasibility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154796" y="3188022"/>
            <a:ext cx="2270999" cy="1284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6"/>
              </a:lnSpc>
            </a:pPr>
            <a:r>
              <a:rPr lang="en-US" sz="169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Uses Raspberry Pi, Arduino, robotic arm, Python, and Stockfish AI with readily available components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050321" y="1980087"/>
            <a:ext cx="640402" cy="345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9"/>
              </a:lnSpc>
              <a:spcBef>
                <a:spcPct val="0"/>
              </a:spcBef>
            </a:pPr>
            <a:r>
              <a:rPr lang="en-US" sz="20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5109097" y="2622064"/>
            <a:ext cx="2291707" cy="256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6"/>
              </a:lnSpc>
            </a:pPr>
            <a:r>
              <a:rPr lang="en-US" sz="1697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Economic Feasibility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5091496" y="3188022"/>
            <a:ext cx="2270999" cy="1284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6"/>
              </a:lnSpc>
            </a:pPr>
            <a:r>
              <a:rPr lang="en-US" sz="169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Moderate cost; hardware components are affordable and easily available online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4987021" y="1980087"/>
            <a:ext cx="640402" cy="345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9"/>
              </a:lnSpc>
              <a:spcBef>
                <a:spcPct val="0"/>
              </a:spcBef>
            </a:pPr>
            <a:r>
              <a:rPr lang="en-US" sz="20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181576" y="6479401"/>
            <a:ext cx="2557480" cy="256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6"/>
              </a:lnSpc>
            </a:pPr>
            <a:r>
              <a:rPr lang="en-US" sz="1697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Operational Feasibility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1286050" y="7045359"/>
            <a:ext cx="2270999" cy="1284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6"/>
              </a:lnSpc>
            </a:pPr>
            <a:r>
              <a:rPr lang="en-US" sz="169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Fully automated system with reliable camera-based move detection and robotic piece movement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1181576" y="5837423"/>
            <a:ext cx="640402" cy="345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9"/>
              </a:lnSpc>
              <a:spcBef>
                <a:spcPct val="0"/>
              </a:spcBef>
            </a:pPr>
            <a:r>
              <a:rPr lang="en-US" sz="20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4987021" y="6479401"/>
            <a:ext cx="2557480" cy="256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6"/>
              </a:lnSpc>
            </a:pPr>
            <a:r>
              <a:rPr lang="en-US" sz="1697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Future Feasibility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5091496" y="7045359"/>
            <a:ext cx="2270999" cy="1284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6"/>
              </a:lnSpc>
            </a:pPr>
            <a:r>
              <a:rPr lang="en-US" sz="169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Can be extended with multiplayer support, voice control, automatic board setup, 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4987021" y="5837423"/>
            <a:ext cx="640402" cy="345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9"/>
              </a:lnSpc>
              <a:spcBef>
                <a:spcPct val="0"/>
              </a:spcBef>
            </a:pPr>
            <a:r>
              <a:rPr lang="en-US" sz="20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45061" y="0"/>
            <a:ext cx="1079929" cy="1757281"/>
          </a:xfrm>
          <a:custGeom>
            <a:avLst/>
            <a:gdLst/>
            <a:ahLst/>
            <a:cxnLst/>
            <a:rect l="l" t="t" r="r" b="b"/>
            <a:pathLst>
              <a:path w="1079929" h="1757281">
                <a:moveTo>
                  <a:pt x="0" y="0"/>
                </a:moveTo>
                <a:lnTo>
                  <a:pt x="1079929" y="0"/>
                </a:lnTo>
                <a:lnTo>
                  <a:pt x="1079929" y="1757281"/>
                </a:lnTo>
                <a:lnTo>
                  <a:pt x="0" y="17572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16607031" y="7599655"/>
            <a:ext cx="1821356" cy="2862132"/>
          </a:xfrm>
          <a:custGeom>
            <a:avLst/>
            <a:gdLst/>
            <a:ahLst/>
            <a:cxnLst/>
            <a:rect l="l" t="t" r="r" b="b"/>
            <a:pathLst>
              <a:path w="1821356" h="2862132">
                <a:moveTo>
                  <a:pt x="1821356" y="2862131"/>
                </a:moveTo>
                <a:lnTo>
                  <a:pt x="0" y="2862131"/>
                </a:lnTo>
                <a:lnTo>
                  <a:pt x="0" y="0"/>
                </a:lnTo>
                <a:lnTo>
                  <a:pt x="1821356" y="0"/>
                </a:lnTo>
                <a:lnTo>
                  <a:pt x="1821356" y="286213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879012" y="2315694"/>
            <a:ext cx="16529977" cy="5283961"/>
            <a:chOff x="0" y="0"/>
            <a:chExt cx="22039969" cy="7045281"/>
          </a:xfrm>
        </p:grpSpPr>
        <p:sp>
          <p:nvSpPr>
            <p:cNvPr id="5" name="Freeform 5"/>
            <p:cNvSpPr/>
            <p:nvPr/>
          </p:nvSpPr>
          <p:spPr>
            <a:xfrm>
              <a:off x="0" y="33131"/>
              <a:ext cx="6977089" cy="7012150"/>
            </a:xfrm>
            <a:custGeom>
              <a:avLst/>
              <a:gdLst/>
              <a:ahLst/>
              <a:cxnLst/>
              <a:rect l="l" t="t" r="r" b="b"/>
              <a:pathLst>
                <a:path w="6977089" h="7012150">
                  <a:moveTo>
                    <a:pt x="0" y="0"/>
                  </a:moveTo>
                  <a:lnTo>
                    <a:pt x="6977089" y="0"/>
                  </a:lnTo>
                  <a:lnTo>
                    <a:pt x="6977089" y="7012150"/>
                  </a:lnTo>
                  <a:lnTo>
                    <a:pt x="0" y="7012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5067263" y="0"/>
              <a:ext cx="6972706" cy="7012150"/>
            </a:xfrm>
            <a:custGeom>
              <a:avLst/>
              <a:gdLst/>
              <a:ahLst/>
              <a:cxnLst/>
              <a:rect l="l" t="t" r="r" b="b"/>
              <a:pathLst>
                <a:path w="6972706" h="7012150">
                  <a:moveTo>
                    <a:pt x="0" y="0"/>
                  </a:moveTo>
                  <a:lnTo>
                    <a:pt x="6972706" y="0"/>
                  </a:lnTo>
                  <a:lnTo>
                    <a:pt x="6972706" y="7012150"/>
                  </a:lnTo>
                  <a:lnTo>
                    <a:pt x="0" y="7012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6496217" y="2340542"/>
            <a:ext cx="5298854" cy="5259112"/>
          </a:xfrm>
          <a:custGeom>
            <a:avLst/>
            <a:gdLst/>
            <a:ahLst/>
            <a:cxnLst/>
            <a:rect l="l" t="t" r="r" b="b"/>
            <a:pathLst>
              <a:path w="5298854" h="5259112">
                <a:moveTo>
                  <a:pt x="0" y="0"/>
                </a:moveTo>
                <a:lnTo>
                  <a:pt x="5298853" y="0"/>
                </a:lnTo>
                <a:lnTo>
                  <a:pt x="5298853" y="5259113"/>
                </a:lnTo>
                <a:lnTo>
                  <a:pt x="0" y="52591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137164" y="516376"/>
            <a:ext cx="11005776" cy="93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Software Implementation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117109" y="8369950"/>
            <a:ext cx="9081833" cy="1236225"/>
            <a:chOff x="0" y="0"/>
            <a:chExt cx="2105892" cy="286656"/>
          </a:xfrm>
        </p:grpSpPr>
        <p:sp>
          <p:nvSpPr>
            <p:cNvPr id="10" name="Freeform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2105892" cy="286656"/>
            </a:xfrm>
            <a:custGeom>
              <a:avLst/>
              <a:gdLst/>
              <a:ahLst/>
              <a:cxnLst/>
              <a:rect l="l" t="t" r="r" b="b"/>
              <a:pathLst>
                <a:path w="2105892" h="286656">
                  <a:moveTo>
                    <a:pt x="2105892" y="28984"/>
                  </a:moveTo>
                  <a:lnTo>
                    <a:pt x="2105892" y="257672"/>
                  </a:lnTo>
                  <a:cubicBezTo>
                    <a:pt x="2105892" y="265359"/>
                    <a:pt x="2102838" y="272731"/>
                    <a:pt x="2097403" y="278166"/>
                  </a:cubicBezTo>
                  <a:cubicBezTo>
                    <a:pt x="2091967" y="283602"/>
                    <a:pt x="2084595" y="286656"/>
                    <a:pt x="2076908" y="286656"/>
                  </a:cubicBezTo>
                  <a:lnTo>
                    <a:pt x="28984" y="286656"/>
                  </a:lnTo>
                  <a:cubicBezTo>
                    <a:pt x="21297" y="286656"/>
                    <a:pt x="13925" y="283602"/>
                    <a:pt x="8489" y="278166"/>
                  </a:cubicBezTo>
                  <a:cubicBezTo>
                    <a:pt x="3054" y="272731"/>
                    <a:pt x="0" y="265359"/>
                    <a:pt x="0" y="257672"/>
                  </a:cubicBezTo>
                  <a:lnTo>
                    <a:pt x="0" y="28984"/>
                  </a:lnTo>
                  <a:cubicBezTo>
                    <a:pt x="0" y="21297"/>
                    <a:pt x="3054" y="13925"/>
                    <a:pt x="8489" y="8489"/>
                  </a:cubicBezTo>
                  <a:cubicBezTo>
                    <a:pt x="13925" y="3054"/>
                    <a:pt x="21297" y="0"/>
                    <a:pt x="28984" y="0"/>
                  </a:cubicBezTo>
                  <a:lnTo>
                    <a:pt x="2076908" y="0"/>
                  </a:lnTo>
                  <a:cubicBezTo>
                    <a:pt x="2084595" y="0"/>
                    <a:pt x="2091967" y="3054"/>
                    <a:pt x="2097403" y="8489"/>
                  </a:cubicBezTo>
                  <a:cubicBezTo>
                    <a:pt x="2102838" y="13925"/>
                    <a:pt x="2105892" y="21297"/>
                    <a:pt x="2105892" y="28984"/>
                  </a:cubicBezTo>
                  <a:close/>
                </a:path>
              </a:pathLst>
            </a:custGeom>
            <a:solidFill>
              <a:srgbClr val="E5E5E5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105892" cy="334281"/>
            </a:xfrm>
            <a:prstGeom prst="rect">
              <a:avLst/>
            </a:prstGeom>
          </p:spPr>
          <p:txBody>
            <a:bodyPr lIns="57702" tIns="57702" rIns="57702" bIns="57702" rtlCol="0" anchor="ctr"/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Detects if piece is black or white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45061" y="0"/>
            <a:ext cx="1079929" cy="1757281"/>
          </a:xfrm>
          <a:custGeom>
            <a:avLst/>
            <a:gdLst/>
            <a:ahLst/>
            <a:cxnLst/>
            <a:rect l="l" t="t" r="r" b="b"/>
            <a:pathLst>
              <a:path w="1079929" h="1757281">
                <a:moveTo>
                  <a:pt x="0" y="0"/>
                </a:moveTo>
                <a:lnTo>
                  <a:pt x="1079929" y="0"/>
                </a:lnTo>
                <a:lnTo>
                  <a:pt x="1079929" y="1757281"/>
                </a:lnTo>
                <a:lnTo>
                  <a:pt x="0" y="17572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16607031" y="7599655"/>
            <a:ext cx="1821356" cy="2862132"/>
          </a:xfrm>
          <a:custGeom>
            <a:avLst/>
            <a:gdLst/>
            <a:ahLst/>
            <a:cxnLst/>
            <a:rect l="l" t="t" r="r" b="b"/>
            <a:pathLst>
              <a:path w="1821356" h="2862132">
                <a:moveTo>
                  <a:pt x="1821356" y="2862131"/>
                </a:moveTo>
                <a:lnTo>
                  <a:pt x="0" y="2862131"/>
                </a:lnTo>
                <a:lnTo>
                  <a:pt x="0" y="0"/>
                </a:lnTo>
                <a:lnTo>
                  <a:pt x="1821356" y="0"/>
                </a:lnTo>
                <a:lnTo>
                  <a:pt x="1821356" y="286213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410425" y="6128079"/>
            <a:ext cx="5949411" cy="3621004"/>
          </a:xfrm>
          <a:custGeom>
            <a:avLst/>
            <a:gdLst/>
            <a:ahLst/>
            <a:cxnLst/>
            <a:rect l="l" t="t" r="r" b="b"/>
            <a:pathLst>
              <a:path w="5949411" h="3621004">
                <a:moveTo>
                  <a:pt x="0" y="0"/>
                </a:moveTo>
                <a:lnTo>
                  <a:pt x="5949411" y="0"/>
                </a:lnTo>
                <a:lnTo>
                  <a:pt x="5949411" y="3621004"/>
                </a:lnTo>
                <a:lnTo>
                  <a:pt x="0" y="36210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39013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928164" y="6067442"/>
            <a:ext cx="5906965" cy="3681641"/>
          </a:xfrm>
          <a:custGeom>
            <a:avLst/>
            <a:gdLst/>
            <a:ahLst/>
            <a:cxnLst/>
            <a:rect l="l" t="t" r="r" b="b"/>
            <a:pathLst>
              <a:path w="5906965" h="3681641">
                <a:moveTo>
                  <a:pt x="0" y="0"/>
                </a:moveTo>
                <a:lnTo>
                  <a:pt x="5906965" y="0"/>
                </a:lnTo>
                <a:lnTo>
                  <a:pt x="5906965" y="3681641"/>
                </a:lnTo>
                <a:lnTo>
                  <a:pt x="0" y="36816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626" t="-11751" r="-27963" b="-12422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928164" y="1919076"/>
            <a:ext cx="5906965" cy="3681641"/>
          </a:xfrm>
          <a:custGeom>
            <a:avLst/>
            <a:gdLst/>
            <a:ahLst/>
            <a:cxnLst/>
            <a:rect l="l" t="t" r="r" b="b"/>
            <a:pathLst>
              <a:path w="5906965" h="3681641">
                <a:moveTo>
                  <a:pt x="0" y="0"/>
                </a:moveTo>
                <a:lnTo>
                  <a:pt x="5906965" y="0"/>
                </a:lnTo>
                <a:lnTo>
                  <a:pt x="5906965" y="3681641"/>
                </a:lnTo>
                <a:lnTo>
                  <a:pt x="0" y="36816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3271" b="-3271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410425" y="1949719"/>
            <a:ext cx="5949411" cy="3681641"/>
          </a:xfrm>
          <a:custGeom>
            <a:avLst/>
            <a:gdLst/>
            <a:ahLst/>
            <a:cxnLst/>
            <a:rect l="l" t="t" r="r" b="b"/>
            <a:pathLst>
              <a:path w="5949411" h="3681641">
                <a:moveTo>
                  <a:pt x="0" y="0"/>
                </a:moveTo>
                <a:lnTo>
                  <a:pt x="5949411" y="0"/>
                </a:lnTo>
                <a:lnTo>
                  <a:pt x="5949411" y="3681641"/>
                </a:lnTo>
                <a:lnTo>
                  <a:pt x="0" y="36816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9675" t="-11167" r="-25579" b="-11776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137164" y="516376"/>
            <a:ext cx="11005776" cy="93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UI Implementation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45061" y="0"/>
            <a:ext cx="1079929" cy="1757281"/>
          </a:xfrm>
          <a:custGeom>
            <a:avLst/>
            <a:gdLst/>
            <a:ahLst/>
            <a:cxnLst/>
            <a:rect l="l" t="t" r="r" b="b"/>
            <a:pathLst>
              <a:path w="1079929" h="1757281">
                <a:moveTo>
                  <a:pt x="0" y="0"/>
                </a:moveTo>
                <a:lnTo>
                  <a:pt x="1079929" y="0"/>
                </a:lnTo>
                <a:lnTo>
                  <a:pt x="1079929" y="1757281"/>
                </a:lnTo>
                <a:lnTo>
                  <a:pt x="0" y="17572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16607031" y="7599655"/>
            <a:ext cx="1821356" cy="2862132"/>
          </a:xfrm>
          <a:custGeom>
            <a:avLst/>
            <a:gdLst/>
            <a:ahLst/>
            <a:cxnLst/>
            <a:rect l="l" t="t" r="r" b="b"/>
            <a:pathLst>
              <a:path w="1821356" h="2862132">
                <a:moveTo>
                  <a:pt x="1821356" y="2862131"/>
                </a:moveTo>
                <a:lnTo>
                  <a:pt x="0" y="2862131"/>
                </a:lnTo>
                <a:lnTo>
                  <a:pt x="0" y="0"/>
                </a:lnTo>
                <a:lnTo>
                  <a:pt x="1821356" y="0"/>
                </a:lnTo>
                <a:lnTo>
                  <a:pt x="1821356" y="286213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4" name="Picture 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/>
                </p14:media>
              </p:ext>
            </p:extLst>
          </p:nvPr>
        </p:nvPicPr>
        <p:blipFill>
          <a:blip r:embed="rId6"/>
          <a:srcRect/>
          <a:stretch>
            <a:fillRect/>
          </a:stretch>
        </p:blipFill>
        <p:spPr>
          <a:xfrm>
            <a:off x="3587414" y="1800672"/>
            <a:ext cx="11067709" cy="6238638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4137164" y="516376"/>
            <a:ext cx="11005776" cy="93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Hardware Implementation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4109359" y="8412608"/>
            <a:ext cx="9618213" cy="1236225"/>
            <a:chOff x="0" y="0"/>
            <a:chExt cx="2230267" cy="286656"/>
          </a:xfrm>
        </p:grpSpPr>
        <p:sp>
          <p:nvSpPr>
            <p:cNvPr id="7" name="Freeform 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2230267" cy="286656"/>
            </a:xfrm>
            <a:custGeom>
              <a:avLst/>
              <a:gdLst/>
              <a:ahLst/>
              <a:cxnLst/>
              <a:rect l="l" t="t" r="r" b="b"/>
              <a:pathLst>
                <a:path w="2230267" h="286656">
                  <a:moveTo>
                    <a:pt x="2230267" y="27367"/>
                  </a:moveTo>
                  <a:lnTo>
                    <a:pt x="2230267" y="259288"/>
                  </a:lnTo>
                  <a:cubicBezTo>
                    <a:pt x="2230267" y="274403"/>
                    <a:pt x="2218015" y="286656"/>
                    <a:pt x="2202900" y="286656"/>
                  </a:cubicBezTo>
                  <a:lnTo>
                    <a:pt x="27367" y="286656"/>
                  </a:lnTo>
                  <a:cubicBezTo>
                    <a:pt x="20109" y="286656"/>
                    <a:pt x="13148" y="283772"/>
                    <a:pt x="8016" y="278640"/>
                  </a:cubicBezTo>
                  <a:cubicBezTo>
                    <a:pt x="2883" y="273508"/>
                    <a:pt x="0" y="266547"/>
                    <a:pt x="0" y="259288"/>
                  </a:cubicBezTo>
                  <a:lnTo>
                    <a:pt x="0" y="27367"/>
                  </a:lnTo>
                  <a:cubicBezTo>
                    <a:pt x="0" y="12253"/>
                    <a:pt x="12253" y="0"/>
                    <a:pt x="27367" y="0"/>
                  </a:cubicBezTo>
                  <a:lnTo>
                    <a:pt x="2202900" y="0"/>
                  </a:lnTo>
                  <a:cubicBezTo>
                    <a:pt x="2218015" y="0"/>
                    <a:pt x="2230267" y="12253"/>
                    <a:pt x="2230267" y="27367"/>
                  </a:cubicBezTo>
                  <a:close/>
                </a:path>
              </a:pathLst>
            </a:custGeom>
            <a:solidFill>
              <a:srgbClr val="E5E5E5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230267" cy="334281"/>
            </a:xfrm>
            <a:prstGeom prst="rect">
              <a:avLst/>
            </a:prstGeom>
          </p:spPr>
          <p:txBody>
            <a:bodyPr lIns="57702" tIns="57702" rIns="57702" bIns="57702" rtlCol="0" anchor="ctr"/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Assembled arm going to initial position on power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16607031" y="7599655"/>
            <a:ext cx="1821356" cy="2862132"/>
          </a:xfrm>
          <a:custGeom>
            <a:avLst/>
            <a:gdLst/>
            <a:ahLst/>
            <a:cxnLst/>
            <a:rect l="l" t="t" r="r" b="b"/>
            <a:pathLst>
              <a:path w="1821356" h="2862132">
                <a:moveTo>
                  <a:pt x="1821356" y="2862131"/>
                </a:moveTo>
                <a:lnTo>
                  <a:pt x="0" y="2862131"/>
                </a:lnTo>
                <a:lnTo>
                  <a:pt x="0" y="0"/>
                </a:lnTo>
                <a:lnTo>
                  <a:pt x="1821356" y="0"/>
                </a:lnTo>
                <a:lnTo>
                  <a:pt x="1821356" y="286213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3" name="Picture 3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/>
          <a:stretch>
            <a:fillRect/>
          </a:stretch>
        </p:blipFill>
        <p:spPr>
          <a:xfrm>
            <a:off x="3607942" y="1812243"/>
            <a:ext cx="11072115" cy="6241122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137164" y="516376"/>
            <a:ext cx="11005776" cy="93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Hardware Implementation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4603083" y="8412608"/>
            <a:ext cx="9081833" cy="1236225"/>
            <a:chOff x="0" y="0"/>
            <a:chExt cx="2105892" cy="286656"/>
          </a:xfrm>
        </p:grpSpPr>
        <p:sp>
          <p:nvSpPr>
            <p:cNvPr id="6" name="Freeform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2105892" cy="286656"/>
            </a:xfrm>
            <a:custGeom>
              <a:avLst/>
              <a:gdLst/>
              <a:ahLst/>
              <a:cxnLst/>
              <a:rect l="l" t="t" r="r" b="b"/>
              <a:pathLst>
                <a:path w="2105892" h="286656">
                  <a:moveTo>
                    <a:pt x="2105892" y="28984"/>
                  </a:moveTo>
                  <a:lnTo>
                    <a:pt x="2105892" y="257672"/>
                  </a:lnTo>
                  <a:cubicBezTo>
                    <a:pt x="2105892" y="265359"/>
                    <a:pt x="2102838" y="272731"/>
                    <a:pt x="2097403" y="278166"/>
                  </a:cubicBezTo>
                  <a:cubicBezTo>
                    <a:pt x="2091967" y="283602"/>
                    <a:pt x="2084595" y="286656"/>
                    <a:pt x="2076908" y="286656"/>
                  </a:cubicBezTo>
                  <a:lnTo>
                    <a:pt x="28984" y="286656"/>
                  </a:lnTo>
                  <a:cubicBezTo>
                    <a:pt x="21297" y="286656"/>
                    <a:pt x="13925" y="283602"/>
                    <a:pt x="8489" y="278166"/>
                  </a:cubicBezTo>
                  <a:cubicBezTo>
                    <a:pt x="3054" y="272731"/>
                    <a:pt x="0" y="265359"/>
                    <a:pt x="0" y="257672"/>
                  </a:cubicBezTo>
                  <a:lnTo>
                    <a:pt x="0" y="28984"/>
                  </a:lnTo>
                  <a:cubicBezTo>
                    <a:pt x="0" y="21297"/>
                    <a:pt x="3054" y="13925"/>
                    <a:pt x="8489" y="8489"/>
                  </a:cubicBezTo>
                  <a:cubicBezTo>
                    <a:pt x="13925" y="3054"/>
                    <a:pt x="21297" y="0"/>
                    <a:pt x="28984" y="0"/>
                  </a:cubicBezTo>
                  <a:lnTo>
                    <a:pt x="2076908" y="0"/>
                  </a:lnTo>
                  <a:cubicBezTo>
                    <a:pt x="2084595" y="0"/>
                    <a:pt x="2091967" y="3054"/>
                    <a:pt x="2097403" y="8489"/>
                  </a:cubicBezTo>
                  <a:cubicBezTo>
                    <a:pt x="2102838" y="13925"/>
                    <a:pt x="2105892" y="21297"/>
                    <a:pt x="2105892" y="28984"/>
                  </a:cubicBezTo>
                  <a:close/>
                </a:path>
              </a:pathLst>
            </a:custGeom>
            <a:solidFill>
              <a:srgbClr val="E5E5E5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105892" cy="334281"/>
            </a:xfrm>
            <a:prstGeom prst="rect">
              <a:avLst/>
            </a:prstGeom>
          </p:spPr>
          <p:txBody>
            <a:bodyPr lIns="57702" tIns="57702" rIns="57702" bIns="57702" rtlCol="0" anchor="ctr"/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Robotic arm move: e2-e4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16607031" y="7599655"/>
            <a:ext cx="1821356" cy="2862132"/>
          </a:xfrm>
          <a:custGeom>
            <a:avLst/>
            <a:gdLst/>
            <a:ahLst/>
            <a:cxnLst/>
            <a:rect l="l" t="t" r="r" b="b"/>
            <a:pathLst>
              <a:path w="1821356" h="2862132">
                <a:moveTo>
                  <a:pt x="1821356" y="2862131"/>
                </a:moveTo>
                <a:lnTo>
                  <a:pt x="0" y="2862131"/>
                </a:lnTo>
                <a:lnTo>
                  <a:pt x="0" y="0"/>
                </a:lnTo>
                <a:lnTo>
                  <a:pt x="1821356" y="0"/>
                </a:lnTo>
                <a:lnTo>
                  <a:pt x="1821356" y="286213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603083" y="8412608"/>
            <a:ext cx="9081833" cy="1236225"/>
            <a:chOff x="0" y="0"/>
            <a:chExt cx="2105892" cy="286656"/>
          </a:xfrm>
        </p:grpSpPr>
        <p:sp>
          <p:nvSpPr>
            <p:cNvPr id="4" name="Freeform 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2105892" cy="286656"/>
            </a:xfrm>
            <a:custGeom>
              <a:avLst/>
              <a:gdLst/>
              <a:ahLst/>
              <a:cxnLst/>
              <a:rect l="l" t="t" r="r" b="b"/>
              <a:pathLst>
                <a:path w="2105892" h="286656">
                  <a:moveTo>
                    <a:pt x="2105892" y="28984"/>
                  </a:moveTo>
                  <a:lnTo>
                    <a:pt x="2105892" y="257672"/>
                  </a:lnTo>
                  <a:cubicBezTo>
                    <a:pt x="2105892" y="265359"/>
                    <a:pt x="2102838" y="272731"/>
                    <a:pt x="2097403" y="278166"/>
                  </a:cubicBezTo>
                  <a:cubicBezTo>
                    <a:pt x="2091967" y="283602"/>
                    <a:pt x="2084595" y="286656"/>
                    <a:pt x="2076908" y="286656"/>
                  </a:cubicBezTo>
                  <a:lnTo>
                    <a:pt x="28984" y="286656"/>
                  </a:lnTo>
                  <a:cubicBezTo>
                    <a:pt x="21297" y="286656"/>
                    <a:pt x="13925" y="283602"/>
                    <a:pt x="8489" y="278166"/>
                  </a:cubicBezTo>
                  <a:cubicBezTo>
                    <a:pt x="3054" y="272731"/>
                    <a:pt x="0" y="265359"/>
                    <a:pt x="0" y="257672"/>
                  </a:cubicBezTo>
                  <a:lnTo>
                    <a:pt x="0" y="28984"/>
                  </a:lnTo>
                  <a:cubicBezTo>
                    <a:pt x="0" y="21297"/>
                    <a:pt x="3054" y="13925"/>
                    <a:pt x="8489" y="8489"/>
                  </a:cubicBezTo>
                  <a:cubicBezTo>
                    <a:pt x="13925" y="3054"/>
                    <a:pt x="21297" y="0"/>
                    <a:pt x="28984" y="0"/>
                  </a:cubicBezTo>
                  <a:lnTo>
                    <a:pt x="2076908" y="0"/>
                  </a:lnTo>
                  <a:cubicBezTo>
                    <a:pt x="2084595" y="0"/>
                    <a:pt x="2091967" y="3054"/>
                    <a:pt x="2097403" y="8489"/>
                  </a:cubicBezTo>
                  <a:cubicBezTo>
                    <a:pt x="2102838" y="13925"/>
                    <a:pt x="2105892" y="21297"/>
                    <a:pt x="2105892" y="28984"/>
                  </a:cubicBezTo>
                  <a:close/>
                </a:path>
              </a:pathLst>
            </a:custGeom>
            <a:solidFill>
              <a:srgbClr val="E5E5E5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105892" cy="334281"/>
            </a:xfrm>
            <a:prstGeom prst="rect">
              <a:avLst/>
            </a:prstGeom>
          </p:spPr>
          <p:txBody>
            <a:bodyPr lIns="57702" tIns="57702" rIns="57702" bIns="57702" rtlCol="0" anchor="ctr"/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Arm simulation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731255" y="1859686"/>
            <a:ext cx="11411684" cy="6567629"/>
            <a:chOff x="0" y="0"/>
            <a:chExt cx="15215579" cy="87568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215579" cy="8756838"/>
            </a:xfrm>
            <a:custGeom>
              <a:avLst/>
              <a:gdLst/>
              <a:ahLst/>
              <a:cxnLst/>
              <a:rect l="l" t="t" r="r" b="b"/>
              <a:pathLst>
                <a:path w="15215579" h="8756838">
                  <a:moveTo>
                    <a:pt x="0" y="0"/>
                  </a:moveTo>
                  <a:lnTo>
                    <a:pt x="15215579" y="0"/>
                  </a:lnTo>
                  <a:lnTo>
                    <a:pt x="15215579" y="8756838"/>
                  </a:lnTo>
                  <a:lnTo>
                    <a:pt x="0" y="8756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6860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7878395" y="0"/>
              <a:ext cx="3338571" cy="2751792"/>
            </a:xfrm>
            <a:custGeom>
              <a:avLst/>
              <a:gdLst/>
              <a:ahLst/>
              <a:cxnLst/>
              <a:rect l="l" t="t" r="r" b="b"/>
              <a:pathLst>
                <a:path w="3338571" h="2751792">
                  <a:moveTo>
                    <a:pt x="0" y="0"/>
                  </a:moveTo>
                  <a:lnTo>
                    <a:pt x="3338571" y="0"/>
                  </a:lnTo>
                  <a:lnTo>
                    <a:pt x="3338571" y="2751792"/>
                  </a:lnTo>
                  <a:lnTo>
                    <a:pt x="0" y="2751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11216966" y="0"/>
              <a:ext cx="3338571" cy="2751792"/>
            </a:xfrm>
            <a:custGeom>
              <a:avLst/>
              <a:gdLst/>
              <a:ahLst/>
              <a:cxnLst/>
              <a:rect l="l" t="t" r="r" b="b"/>
              <a:pathLst>
                <a:path w="3338571" h="2751792">
                  <a:moveTo>
                    <a:pt x="0" y="0"/>
                  </a:moveTo>
                  <a:lnTo>
                    <a:pt x="3338570" y="0"/>
                  </a:lnTo>
                  <a:lnTo>
                    <a:pt x="3338570" y="2751792"/>
                  </a:lnTo>
                  <a:lnTo>
                    <a:pt x="0" y="2751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4137164" y="516376"/>
            <a:ext cx="11005776" cy="93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Hardware Implementation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45061" y="0"/>
            <a:ext cx="1079929" cy="1757281"/>
          </a:xfrm>
          <a:custGeom>
            <a:avLst/>
            <a:gdLst/>
            <a:ahLst/>
            <a:cxnLst/>
            <a:rect l="l" t="t" r="r" b="b"/>
            <a:pathLst>
              <a:path w="1079929" h="1757281">
                <a:moveTo>
                  <a:pt x="0" y="0"/>
                </a:moveTo>
                <a:lnTo>
                  <a:pt x="1079929" y="0"/>
                </a:lnTo>
                <a:lnTo>
                  <a:pt x="1079929" y="1757281"/>
                </a:lnTo>
                <a:lnTo>
                  <a:pt x="0" y="17572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0" y="516376"/>
            <a:ext cx="18288000" cy="93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Current Goal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145061" y="2122730"/>
            <a:ext cx="15142939" cy="206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8" lvl="1" indent="-323849" algn="l">
              <a:lnSpc>
                <a:spcPts val="4199"/>
              </a:lnSpc>
              <a:buAutoNum type="arabicPeriod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Achieve pick and place  by robotic arm</a:t>
            </a:r>
          </a:p>
          <a:p>
            <a:pPr marL="647698" lvl="1" indent="-323849" algn="l">
              <a:lnSpc>
                <a:spcPts val="4199"/>
              </a:lnSpc>
              <a:buAutoNum type="arabicPeriod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Accuractely detect and recognize chess board and pieces</a:t>
            </a:r>
          </a:p>
          <a:p>
            <a:pPr marL="647698" lvl="1" indent="-323849" algn="l">
              <a:lnSpc>
                <a:spcPts val="4199"/>
              </a:lnSpc>
              <a:buAutoNum type="arabicPeriod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Generate the robotic arm move</a:t>
            </a:r>
          </a:p>
          <a:p>
            <a:pPr marL="647698" lvl="1" indent="-323849" algn="l">
              <a:lnSpc>
                <a:spcPts val="4199"/>
              </a:lnSpc>
              <a:buAutoNum type="arabicPeriod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Play move by arm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0" y="5421653"/>
            <a:ext cx="18288000" cy="93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Future Goal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145061" y="7025028"/>
            <a:ext cx="15142939" cy="206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8" lvl="1" indent="-323849" algn="l">
              <a:lnSpc>
                <a:spcPts val="4199"/>
              </a:lnSpc>
              <a:buAutoNum type="arabicPeriod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Enable robotic play a complete match</a:t>
            </a:r>
          </a:p>
          <a:p>
            <a:pPr marL="647698" lvl="1" indent="-323849" algn="l">
              <a:lnSpc>
                <a:spcPts val="4199"/>
              </a:lnSpc>
              <a:buAutoNum type="arabicPeriod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Handle special cases like enpassant, pawn promotion, castling</a:t>
            </a:r>
          </a:p>
          <a:p>
            <a:pPr marL="647698" lvl="1" indent="-323849" algn="l">
              <a:lnSpc>
                <a:spcPts val="4199"/>
              </a:lnSpc>
              <a:buAutoNum type="arabicPeriod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Improve accuracy and reduce move time</a:t>
            </a:r>
          </a:p>
          <a:p>
            <a:pPr marL="647698" lvl="1" indent="-323849" algn="l">
              <a:lnSpc>
                <a:spcPts val="4199"/>
              </a:lnSpc>
              <a:buAutoNum type="arabicPeriod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Develop this project as a commercial product</a:t>
            </a:r>
          </a:p>
        </p:txBody>
      </p:sp>
      <p:sp>
        <p:nvSpPr>
          <p:cNvPr id="7" name="Freeform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16607031" y="7599655"/>
            <a:ext cx="1821356" cy="2862132"/>
          </a:xfrm>
          <a:custGeom>
            <a:avLst/>
            <a:gdLst/>
            <a:ahLst/>
            <a:cxnLst/>
            <a:rect l="l" t="t" r="r" b="b"/>
            <a:pathLst>
              <a:path w="1821356" h="2862132">
                <a:moveTo>
                  <a:pt x="1821356" y="2862131"/>
                </a:moveTo>
                <a:lnTo>
                  <a:pt x="0" y="2862131"/>
                </a:lnTo>
                <a:lnTo>
                  <a:pt x="0" y="0"/>
                </a:lnTo>
                <a:lnTo>
                  <a:pt x="1821356" y="0"/>
                </a:lnTo>
                <a:lnTo>
                  <a:pt x="1821356" y="286213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601885" y="1939309"/>
            <a:ext cx="13084230" cy="7318991"/>
          </a:xfrm>
          <a:custGeom>
            <a:avLst/>
            <a:gdLst/>
            <a:ahLst/>
            <a:cxnLst/>
            <a:rect l="l" t="t" r="r" b="b"/>
            <a:pathLst>
              <a:path w="13084230" h="7318991">
                <a:moveTo>
                  <a:pt x="0" y="0"/>
                </a:moveTo>
                <a:lnTo>
                  <a:pt x="13084230" y="0"/>
                </a:lnTo>
                <a:lnTo>
                  <a:pt x="13084230" y="7318991"/>
                </a:lnTo>
                <a:lnTo>
                  <a:pt x="0" y="73189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601885" y="1939309"/>
            <a:ext cx="13084230" cy="7318991"/>
          </a:xfrm>
          <a:custGeom>
            <a:avLst/>
            <a:gdLst/>
            <a:ahLst/>
            <a:cxnLst/>
            <a:rect l="l" t="t" r="r" b="b"/>
            <a:pathLst>
              <a:path w="13084230" h="7318991">
                <a:moveTo>
                  <a:pt x="0" y="0"/>
                </a:moveTo>
                <a:lnTo>
                  <a:pt x="13084230" y="0"/>
                </a:lnTo>
                <a:lnTo>
                  <a:pt x="13084230" y="7318991"/>
                </a:lnTo>
                <a:lnTo>
                  <a:pt x="0" y="73189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2471991">
            <a:off x="800916" y="305438"/>
            <a:ext cx="455567" cy="654209"/>
          </a:xfrm>
          <a:custGeom>
            <a:avLst/>
            <a:gdLst/>
            <a:ahLst/>
            <a:cxnLst/>
            <a:rect l="l" t="t" r="r" b="b"/>
            <a:pathLst>
              <a:path w="455567" h="654209">
                <a:moveTo>
                  <a:pt x="0" y="0"/>
                </a:moveTo>
                <a:lnTo>
                  <a:pt x="455568" y="0"/>
                </a:lnTo>
                <a:lnTo>
                  <a:pt x="455568" y="654209"/>
                </a:lnTo>
                <a:lnTo>
                  <a:pt x="0" y="6542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641112" y="516376"/>
            <a:ext cx="11005776" cy="93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Implementation Status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641112" y="516376"/>
            <a:ext cx="11005776" cy="93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Links to Documentation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2178946" y="2637741"/>
            <a:ext cx="13613267" cy="5864934"/>
            <a:chOff x="0" y="0"/>
            <a:chExt cx="18151023" cy="7819911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18151023" cy="7819911"/>
              <a:chOff x="0" y="0"/>
              <a:chExt cx="3156639" cy="1359959"/>
            </a:xfrm>
          </p:grpSpPr>
          <p:sp>
            <p:nvSpPr>
              <p:cNvPr id="5" name="Freeform 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0" y="0"/>
                <a:ext cx="3156639" cy="1359960"/>
              </a:xfrm>
              <a:custGeom>
                <a:avLst/>
                <a:gdLst/>
                <a:ahLst/>
                <a:cxnLst/>
                <a:rect l="l" t="t" r="r" b="b"/>
                <a:pathLst>
                  <a:path w="3156639" h="1359960">
                    <a:moveTo>
                      <a:pt x="3156639" y="11374"/>
                    </a:moveTo>
                    <a:lnTo>
                      <a:pt x="3156639" y="1348585"/>
                    </a:lnTo>
                    <a:cubicBezTo>
                      <a:pt x="3156639" y="1354867"/>
                      <a:pt x="3151547" y="1359960"/>
                      <a:pt x="3145265" y="1359960"/>
                    </a:cubicBezTo>
                    <a:lnTo>
                      <a:pt x="11374" y="1359960"/>
                    </a:lnTo>
                    <a:cubicBezTo>
                      <a:pt x="5092" y="1359960"/>
                      <a:pt x="0" y="1354867"/>
                      <a:pt x="0" y="1348585"/>
                    </a:cubicBezTo>
                    <a:lnTo>
                      <a:pt x="0" y="11374"/>
                    </a:lnTo>
                    <a:cubicBezTo>
                      <a:pt x="0" y="5092"/>
                      <a:pt x="5092" y="0"/>
                      <a:pt x="11374" y="0"/>
                    </a:cubicBezTo>
                    <a:lnTo>
                      <a:pt x="3145265" y="0"/>
                    </a:lnTo>
                    <a:cubicBezTo>
                      <a:pt x="3148281" y="0"/>
                      <a:pt x="3151175" y="1198"/>
                      <a:pt x="3153308" y="3331"/>
                    </a:cubicBezTo>
                    <a:cubicBezTo>
                      <a:pt x="3155441" y="5464"/>
                      <a:pt x="3156639" y="8357"/>
                      <a:pt x="3156639" y="11374"/>
                    </a:cubicBezTo>
                    <a:close/>
                  </a:path>
                </a:pathLst>
              </a:custGeom>
              <a:solidFill>
                <a:srgbClr val="E5E5E5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3156639" cy="1398059"/>
              </a:xfrm>
              <a:prstGeom prst="rect">
                <a:avLst/>
              </a:prstGeom>
            </p:spPr>
            <p:txBody>
              <a:bodyPr lIns="57702" tIns="57702" rIns="57702" bIns="57702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1073004" y="1521952"/>
              <a:ext cx="16005015" cy="3133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300"/>
                </a:lnSpc>
              </a:pPr>
              <a:r>
                <a:rPr lang="en-US" sz="4500" u="sng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  <a:hlinkClick r:id="rId2" tooltip="https://github.com/aashka05/chess-playing-robotic-arm/blob/docs/Presentation_Reports/Group_09_Progress_report_1.pdf"/>
                </a:rPr>
                <a:t>Progress Report 1</a:t>
              </a:r>
            </a:p>
            <a:p>
              <a:pPr algn="ctr">
                <a:lnSpc>
                  <a:spcPts val="6300"/>
                </a:lnSpc>
              </a:pPr>
              <a:r>
                <a:rPr lang="en-US" sz="4500" u="sng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  <a:hlinkClick r:id="rId3" tooltip="https://github.com/aashka05/chess-playing-robotic-arm/blob/docs/Presentation_Reports/Group_09_Progress_report_2.pdf"/>
                </a:rPr>
                <a:t>Progress Report 2</a:t>
              </a:r>
            </a:p>
            <a:p>
              <a:pPr algn="ctr">
                <a:lnSpc>
                  <a:spcPts val="6300"/>
                </a:lnSpc>
              </a:pPr>
              <a:r>
                <a:rPr lang="en-US" sz="4500" u="sng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  <a:hlinkClick r:id="rId4" tooltip="https://github.com/aashka05/chess-playing-robotic-arm/blob/docs/Presentation_Reports/Group_09_SRS.pdf"/>
                </a:rPr>
                <a:t>Project SRS</a:t>
              </a: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217185" y="7538231"/>
              <a:ext cx="17716653" cy="281680"/>
              <a:chOff x="0" y="0"/>
              <a:chExt cx="3499586" cy="55641"/>
            </a:xfrm>
          </p:grpSpPr>
          <p:sp>
            <p:nvSpPr>
              <p:cNvPr id="9" name="Freeform 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0" y="0"/>
                <a:ext cx="3499586" cy="55641"/>
              </a:xfrm>
              <a:custGeom>
                <a:avLst/>
                <a:gdLst/>
                <a:ahLst/>
                <a:cxnLst/>
                <a:rect l="l" t="t" r="r" b="b"/>
                <a:pathLst>
                  <a:path w="3499586" h="55641">
                    <a:moveTo>
                      <a:pt x="27820" y="0"/>
                    </a:moveTo>
                    <a:lnTo>
                      <a:pt x="3471766" y="0"/>
                    </a:lnTo>
                    <a:cubicBezTo>
                      <a:pt x="3487131" y="0"/>
                      <a:pt x="3499586" y="12456"/>
                      <a:pt x="3499586" y="27820"/>
                    </a:cubicBezTo>
                    <a:lnTo>
                      <a:pt x="3499586" y="27820"/>
                    </a:lnTo>
                    <a:cubicBezTo>
                      <a:pt x="3499586" y="35199"/>
                      <a:pt x="3496655" y="42275"/>
                      <a:pt x="3491438" y="47492"/>
                    </a:cubicBezTo>
                    <a:cubicBezTo>
                      <a:pt x="3486220" y="52710"/>
                      <a:pt x="3479144" y="55641"/>
                      <a:pt x="3471766" y="55641"/>
                    </a:cubicBezTo>
                    <a:lnTo>
                      <a:pt x="27820" y="55641"/>
                    </a:lnTo>
                    <a:cubicBezTo>
                      <a:pt x="20442" y="55641"/>
                      <a:pt x="13366" y="52710"/>
                      <a:pt x="8148" y="47492"/>
                    </a:cubicBezTo>
                    <a:cubicBezTo>
                      <a:pt x="2931" y="42275"/>
                      <a:pt x="0" y="35199"/>
                      <a:pt x="0" y="27820"/>
                    </a:cubicBezTo>
                    <a:lnTo>
                      <a:pt x="0" y="27820"/>
                    </a:lnTo>
                    <a:cubicBezTo>
                      <a:pt x="0" y="20442"/>
                      <a:pt x="2931" y="13366"/>
                      <a:pt x="8148" y="8148"/>
                    </a:cubicBezTo>
                    <a:cubicBezTo>
                      <a:pt x="13366" y="2931"/>
                      <a:pt x="20442" y="0"/>
                      <a:pt x="27820" y="0"/>
                    </a:cubicBezTo>
                    <a:close/>
                  </a:path>
                </a:pathLst>
              </a:custGeom>
              <a:solidFill>
                <a:srgbClr val="303F9F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3499586" cy="9374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1" name="Freeform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0" y="7424868"/>
            <a:ext cx="1821356" cy="2862132"/>
          </a:xfrm>
          <a:custGeom>
            <a:avLst/>
            <a:gdLst/>
            <a:ahLst/>
            <a:cxnLst/>
            <a:rect l="l" t="t" r="r" b="b"/>
            <a:pathLst>
              <a:path w="1821356" h="2862132">
                <a:moveTo>
                  <a:pt x="0" y="2862132"/>
                </a:moveTo>
                <a:lnTo>
                  <a:pt x="1821356" y="2862132"/>
                </a:lnTo>
                <a:lnTo>
                  <a:pt x="1821356" y="0"/>
                </a:lnTo>
                <a:lnTo>
                  <a:pt x="0" y="0"/>
                </a:lnTo>
                <a:lnTo>
                  <a:pt x="0" y="286213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506285" y="4334617"/>
            <a:ext cx="5275429" cy="120724"/>
            <a:chOff x="0" y="0"/>
            <a:chExt cx="1389413" cy="31796"/>
          </a:xfrm>
        </p:grpSpPr>
        <p:sp>
          <p:nvSpPr>
            <p:cNvPr id="3" name="Freeform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1389413" cy="31796"/>
            </a:xfrm>
            <a:custGeom>
              <a:avLst/>
              <a:gdLst/>
              <a:ahLst/>
              <a:cxnLst/>
              <a:rect l="l" t="t" r="r" b="b"/>
              <a:pathLst>
                <a:path w="1389413" h="31796">
                  <a:moveTo>
                    <a:pt x="15898" y="0"/>
                  </a:moveTo>
                  <a:lnTo>
                    <a:pt x="1373516" y="0"/>
                  </a:lnTo>
                  <a:cubicBezTo>
                    <a:pt x="1377732" y="0"/>
                    <a:pt x="1381776" y="1675"/>
                    <a:pt x="1384757" y="4656"/>
                  </a:cubicBezTo>
                  <a:cubicBezTo>
                    <a:pt x="1387739" y="7638"/>
                    <a:pt x="1389413" y="11681"/>
                    <a:pt x="1389413" y="15898"/>
                  </a:cubicBezTo>
                  <a:lnTo>
                    <a:pt x="1389413" y="15898"/>
                  </a:lnTo>
                  <a:cubicBezTo>
                    <a:pt x="1389413" y="24678"/>
                    <a:pt x="1382296" y="31796"/>
                    <a:pt x="1373516" y="31796"/>
                  </a:cubicBezTo>
                  <a:lnTo>
                    <a:pt x="15898" y="31796"/>
                  </a:lnTo>
                  <a:cubicBezTo>
                    <a:pt x="7118" y="31796"/>
                    <a:pt x="0" y="24678"/>
                    <a:pt x="0" y="15898"/>
                  </a:cubicBezTo>
                  <a:lnTo>
                    <a:pt x="0" y="15898"/>
                  </a:lnTo>
                  <a:cubicBezTo>
                    <a:pt x="0" y="7118"/>
                    <a:pt x="7118" y="0"/>
                    <a:pt x="15898" y="0"/>
                  </a:cubicBezTo>
                  <a:close/>
                </a:path>
              </a:pathLst>
            </a:custGeom>
            <a:solidFill>
              <a:srgbClr val="303F9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389413" cy="698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0" y="2638295"/>
            <a:ext cx="18288000" cy="1519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19"/>
              </a:lnSpc>
            </a:pPr>
            <a:r>
              <a:rPr lang="en-US" sz="879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THANK YOU</a:t>
            </a:r>
          </a:p>
        </p:txBody>
      </p:sp>
      <p:sp>
        <p:nvSpPr>
          <p:cNvPr id="6" name="Freeform 6"/>
          <p:cNvSpPr/>
          <p:nvPr/>
        </p:nvSpPr>
        <p:spPr>
          <a:xfrm>
            <a:off x="2076148" y="0"/>
            <a:ext cx="14093553" cy="10287000"/>
          </a:xfrm>
          <a:custGeom>
            <a:avLst/>
            <a:gdLst/>
            <a:ahLst/>
            <a:cxnLst/>
            <a:rect l="l" t="t" r="r" b="b"/>
            <a:pathLst>
              <a:path w="14093553" h="10287000">
                <a:moveTo>
                  <a:pt x="14093553" y="10287000"/>
                </a:moveTo>
                <a:lnTo>
                  <a:pt x="14093553" y="6450359"/>
                </a:lnTo>
                <a:cubicBezTo>
                  <a:pt x="14093553" y="6389731"/>
                  <a:pt x="14069470" y="6331585"/>
                  <a:pt x="14026598" y="6288714"/>
                </a:cubicBezTo>
                <a:cubicBezTo>
                  <a:pt x="13983728" y="6245844"/>
                  <a:pt x="13925582" y="6221759"/>
                  <a:pt x="13864953" y="6221759"/>
                </a:cubicBezTo>
                <a:lnTo>
                  <a:pt x="228600" y="6221759"/>
                </a:lnTo>
                <a:cubicBezTo>
                  <a:pt x="167972" y="6221759"/>
                  <a:pt x="109827" y="6197674"/>
                  <a:pt x="66956" y="6154804"/>
                </a:cubicBezTo>
                <a:cubicBezTo>
                  <a:pt x="24085" y="6111933"/>
                  <a:pt x="0" y="6053787"/>
                  <a:pt x="0" y="5993159"/>
                </a:cubicBezTo>
                <a:lnTo>
                  <a:pt x="0" y="0"/>
                </a:lnTo>
              </a:path>
            </a:pathLst>
          </a:custGeom>
          <a:ln w="723900" cap="flat">
            <a:solidFill>
              <a:srgbClr val="303F9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>
            <a:off x="2097224" y="0"/>
            <a:ext cx="14093552" cy="10287000"/>
          </a:xfrm>
          <a:custGeom>
            <a:avLst/>
            <a:gdLst/>
            <a:ahLst/>
            <a:cxnLst/>
            <a:rect l="l" t="t" r="r" b="b"/>
            <a:pathLst>
              <a:path w="14093552" h="10287000">
                <a:moveTo>
                  <a:pt x="14093552" y="10287000"/>
                </a:moveTo>
                <a:lnTo>
                  <a:pt x="14093552" y="6450359"/>
                </a:lnTo>
                <a:cubicBezTo>
                  <a:pt x="14093552" y="6389731"/>
                  <a:pt x="14069468" y="6331585"/>
                  <a:pt x="14026596" y="6288714"/>
                </a:cubicBezTo>
                <a:cubicBezTo>
                  <a:pt x="13983726" y="6245844"/>
                  <a:pt x="13925581" y="6221759"/>
                  <a:pt x="13864952" y="6221759"/>
                </a:cubicBezTo>
                <a:lnTo>
                  <a:pt x="228600" y="6221759"/>
                </a:lnTo>
                <a:cubicBezTo>
                  <a:pt x="167971" y="6221759"/>
                  <a:pt x="109826" y="6197674"/>
                  <a:pt x="66955" y="6154804"/>
                </a:cubicBezTo>
                <a:cubicBezTo>
                  <a:pt x="24084" y="6111933"/>
                  <a:pt x="0" y="6053787"/>
                  <a:pt x="0" y="5993159"/>
                </a:cubicBezTo>
                <a:lnTo>
                  <a:pt x="0" y="0"/>
                </a:lnTo>
              </a:path>
            </a:pathLst>
          </a:custGeom>
          <a:ln w="38100" cap="flat">
            <a:solidFill>
              <a:srgbClr val="FFFFFF"/>
            </a:solidFill>
            <a:prstDash val="lgDash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433</Words>
  <Application>Microsoft Office PowerPoint</Application>
  <PresentationFormat>Custom</PresentationFormat>
  <Paragraphs>104</Paragraphs>
  <Slides>13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Arial</vt:lpstr>
      <vt:lpstr>Canva Sans Bold</vt:lpstr>
      <vt:lpstr>Open Sauce Bold</vt:lpstr>
      <vt:lpstr>Open Sans</vt:lpstr>
      <vt:lpstr>Times New Roman Bold</vt:lpstr>
      <vt:lpstr>Times New Roman</vt:lpstr>
      <vt:lpstr>Times New Roman Italics</vt:lpstr>
      <vt:lpstr>Canva Sans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(4IT31) Academic Year 2026-27</dc:title>
  <cp:lastModifiedBy>Veera Agrawal</cp:lastModifiedBy>
  <cp:revision>2</cp:revision>
  <dcterms:created xsi:type="dcterms:W3CDTF">2006-08-16T00:00:00Z</dcterms:created>
  <dcterms:modified xsi:type="dcterms:W3CDTF">2026-08-11T09:06:04Z</dcterms:modified>
  <dc:identifier>DAHNfEpyKRU</dc:identifier>
</cp:coreProperties>
</file>